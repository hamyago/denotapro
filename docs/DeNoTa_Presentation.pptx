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658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05840"/>
            <a:ext cx="1920240" cy="1920240"/>
          </a:xfrm>
          <a:prstGeom prst="ellipse">
            <a:avLst/>
          </a:prstGeom>
          <a:solidFill>
            <a:srgbClr val="1B5E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00584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🏆</a:t>
            </a:r>
            <a:endParaRPr lang="en-US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2344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</a:t>
            </a:r>
            <a:r>
              <a:rPr lang="en-US" sz="6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</a:t>
            </a:r>
            <a:endParaRPr lang="en-US" sz="64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2103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de Nouveaux Talents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606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Mobile &amp; Web · Côte d'Ivoire ·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" y="4114800"/>
            <a:ext cx="9034272" cy="9144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41605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plateforme qui révèle les talents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sportifs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Ivoiriens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 &amp; L'Opportunité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023360" cy="3840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Le Problème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 milliers de talents sportifs </a:t>
            </a:r>
            <a:r>
              <a:rPr lang="en-US" sz="120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Côte d’Ivoire </a:t>
            </a:r>
            <a:r>
              <a:rPr lang="en-US" sz="120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restent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inconnus faute de visibilité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214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 de </a:t>
            </a:r>
            <a:r>
              <a:rPr lang="en-US" sz="120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dédiée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</a:t>
            </a:r>
            <a:r>
              <a:rPr lang="en-US" sz="120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connue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à la détection sportive en Côte d'Ivoire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7977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Les recruteurs manquent d'outils pour identifier les profils prometteurs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3814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Les jeunes talents n'ont aucun moyen de se faire remarquer professionnellement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023360" cy="3840480"/>
          </a:xfrm>
          <a:prstGeom prst="rect">
            <a:avLst/>
          </a:prstGeom>
          <a:solidFill>
            <a:srgbClr val="E8F5EE"/>
          </a:solidFill>
          <a:ln w="12700">
            <a:solidFill>
              <a:srgbClr val="267F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L'Opportunité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4630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40 millions de jeunes en Afrique de l'Ouest avec une forte culture sportive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1214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Pénétration smartphone croissante : 65%+ en Côte d'Ivoire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77977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Marché du sport africain en pleine explosion (FIFA, NBA Africa, CAN)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43814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Peu de </a:t>
            </a:r>
            <a:r>
              <a:rPr lang="en-US" sz="120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concurrents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directs établi sur ce segment en Afrique francophone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 : DeNoTa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plateforme tout-en-un qui connecte talents, institutions et recruteurs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8106" y="1371600"/>
            <a:ext cx="2011680" cy="3383280"/>
          </a:xfrm>
          <a:prstGeom prst="rect">
            <a:avLst/>
          </a:prstGeom>
          <a:solidFill>
            <a:srgbClr val="1A2D40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8109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🏃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99549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Sportif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5309" y="2651760"/>
            <a:ext cx="1097280" cy="27432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9549" y="274320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Vidéos, stats, palmarès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Score™ 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94106" y="1371600"/>
            <a:ext cx="2011680" cy="3383280"/>
          </a:xfrm>
          <a:prstGeom prst="rect">
            <a:avLst/>
          </a:prstGeom>
          <a:solidFill>
            <a:srgbClr val="1A2D40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94109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2585549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51309" y="2651760"/>
            <a:ext cx="1097280" cy="27432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85549" y="274320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avancée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interactive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6536" y="1371600"/>
            <a:ext cx="2011680" cy="3383280"/>
          </a:xfrm>
          <a:prstGeom prst="rect">
            <a:avLst/>
          </a:prstGeom>
          <a:solidFill>
            <a:srgbClr val="1A2D40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6539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🤝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4797979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Recrutement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37309" y="2651760"/>
            <a:ext cx="1097280" cy="27432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97979" y="274320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Messagerie Premium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relation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50496" y="1371600"/>
            <a:ext cx="2011680" cy="3383280"/>
          </a:xfrm>
          <a:prstGeom prst="rect">
            <a:avLst/>
          </a:prstGeom>
          <a:solidFill>
            <a:srgbClr val="1A2D40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50499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7041939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Monétisation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523309" y="2651760"/>
            <a:ext cx="1097280" cy="27432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41939" y="274320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· CinetPay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Money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784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IA Analyse Vidéo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39903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automatique de métriques de performance depuis les vidéos (vitesse, précision, posture)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743200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9784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Talent Score™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39903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composite 0-100 calculé via IA + notations d'experts + engagement + statistiques vérifiées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868680"/>
            <a:ext cx="2743200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9784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Carte des Talents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39903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 géographique interactive de tous les talents par sport, niveau et disponibilité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2743200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29443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Challenges &amp; Tournois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336499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Défis skills entre sportifs votés par la communauté — génère engagement et viralité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2834640"/>
            <a:ext cx="2743200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29443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PDF Scouting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36499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 automatique de rapports de scouting professionnels pour les recruteurs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834640"/>
            <a:ext cx="2743200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29443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Live Streaming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36499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en direct de matchs et entraînements avec chat interactif en temps reel (</a:t>
            </a:r>
            <a:r>
              <a:rPr lang="en-US" sz="105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</a:t>
            </a: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à long </a:t>
            </a:r>
            <a:r>
              <a:rPr lang="en-US" sz="105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terme</a:t>
            </a: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Utilisateurs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554480" cy="3931920"/>
          </a:xfrm>
          <a:prstGeom prst="rect">
            <a:avLst/>
          </a:prstGeom>
          <a:solidFill>
            <a:srgbClr val="E8F5EE"/>
          </a:solidFill>
          <a:ln w="25400">
            <a:solidFill>
              <a:srgbClr val="1B5E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914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🏃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Sportif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914400" cy="27432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148840"/>
            <a:ext cx="1371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 son profil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 ses vidéos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Cherche à être recruté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03120" y="822960"/>
            <a:ext cx="1554480" cy="3931920"/>
          </a:xfrm>
          <a:prstGeom prst="rect">
            <a:avLst/>
          </a:prstGeom>
          <a:solidFill>
            <a:srgbClr val="EFF6FF"/>
          </a:solidFill>
          <a:ln w="254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03120" y="914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🏫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7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École / Club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23160" y="2057400"/>
            <a:ext cx="914400" cy="27432"/>
          </a:xfrm>
          <a:prstGeom prst="rect">
            <a:avLst/>
          </a:prstGeom>
          <a:solidFill>
            <a:srgbClr val="1A73C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2148840"/>
            <a:ext cx="1371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Gère ses athlètes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institution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officielle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0" y="822960"/>
            <a:ext cx="1554480" cy="3931920"/>
          </a:xfrm>
          <a:prstGeom prst="rect">
            <a:avLst/>
          </a:prstGeom>
          <a:solidFill>
            <a:srgbClr val="FFFBEB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0" y="914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🔍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Recruteur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60520" y="2057400"/>
            <a:ext cx="914400" cy="27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31920" y="2148840"/>
            <a:ext cx="1371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talents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Filtres avancés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direct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77840" y="822960"/>
            <a:ext cx="1554480" cy="3931920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77840" y="914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💰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97880" y="2057400"/>
            <a:ext cx="9144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0" y="2148840"/>
            <a:ext cx="1371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Découvre ambassadeurs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Campagnes ciblées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mesurable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0" y="822960"/>
            <a:ext cx="1554480" cy="3931920"/>
          </a:xfrm>
          <a:prstGeom prst="rect">
            <a:avLst/>
          </a:prstGeom>
          <a:solidFill>
            <a:srgbClr val="FDF3DC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0" y="914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⭐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35240" y="2057400"/>
            <a:ext cx="9144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06640" y="2148840"/>
            <a:ext cx="1371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les talents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Score™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Certifié plateforme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Économique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60520" cy="1280160"/>
          </a:xfrm>
          <a:prstGeom prst="rect">
            <a:avLst/>
          </a:prstGeom>
          <a:solidFill>
            <a:srgbClr val="1A2D40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32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Commission Recrutement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325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5-10% du 1er salaire mensuel sur contrats conclus via DeNoTa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03320" y="932688"/>
            <a:ext cx="640080" cy="2560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75888" y="93268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60520" cy="1280160"/>
          </a:xfrm>
          <a:prstGeom prst="rect">
            <a:avLst/>
          </a:prstGeom>
          <a:solidFill>
            <a:srgbClr val="1A2D40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932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Publicité In-App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325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Bannières et vidéos sponsorisées ciblées (équipementiers, marques sport)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932688"/>
            <a:ext cx="640080" cy="2560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10728" y="93268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74320" y="2240280"/>
            <a:ext cx="4160520" cy="1280160"/>
          </a:xfrm>
          <a:prstGeom prst="rect">
            <a:avLst/>
          </a:prstGeom>
          <a:solidFill>
            <a:srgbClr val="1A2D40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2350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Premium Sportif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2 000 – 5 000 FCFA/mois · Messagerie, analytics, boost profil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03320" y="2350008"/>
            <a:ext cx="640080" cy="256032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675888" y="235000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RÉCURRENT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709160" y="2240280"/>
            <a:ext cx="4160520" cy="1280160"/>
          </a:xfrm>
          <a:prstGeom prst="rect">
            <a:avLst/>
          </a:prstGeom>
          <a:solidFill>
            <a:srgbClr val="1A2D40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2350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  Abonnement Institution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15 000 – 40 000 FCFA/mois · Gestion multi-athlètes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38160" y="2350008"/>
            <a:ext cx="640080" cy="256032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10728" y="235000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RÉCURRENT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4160520" cy="1280160"/>
          </a:xfrm>
          <a:prstGeom prst="rect">
            <a:avLst/>
          </a:prstGeom>
          <a:solidFill>
            <a:srgbClr val="1A2D40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3767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Recruteur Pro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4160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25 000 FCFA/mois · Accès illimité, alertes, PDF scouting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703320" y="3767328"/>
            <a:ext cx="640080" cy="256032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675888" y="376732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RÉCURRENT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709160" y="3657600"/>
            <a:ext cx="4160520" cy="1280160"/>
          </a:xfrm>
          <a:prstGeom prst="rect">
            <a:avLst/>
          </a:prstGeom>
          <a:solidFill>
            <a:srgbClr val="1A2D40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46320" y="3767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Profil Boosté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4160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avant ponctuelle dans les résultats de recherche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38160" y="3767328"/>
            <a:ext cx="640080" cy="256032"/>
          </a:xfrm>
          <a:prstGeom prst="rect">
            <a:avLst/>
          </a:prstGeom>
          <a:solidFill>
            <a:srgbClr val="1A73C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110728" y="376732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PONCTUEL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Technique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93392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1993392" cy="91440"/>
          </a:xfrm>
          <a:prstGeom prst="rect">
            <a:avLst/>
          </a:prstGeom>
          <a:solidFill>
            <a:srgbClr val="1A73C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Mobile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3.x · Dart · BLoC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822960"/>
            <a:ext cx="1993392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822960"/>
            <a:ext cx="1993392" cy="9144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42032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 Vitrine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42032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· CSS3 · JavaScript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822960"/>
            <a:ext cx="1993392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822960"/>
            <a:ext cx="1993392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18304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Backend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18304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· PostgreSQL · RLS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03136" y="822960"/>
            <a:ext cx="1993392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03136" y="822960"/>
            <a:ext cx="199339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94576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Auth &amp; KYC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94576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 · PKCE · OTP SMS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1993392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834640"/>
            <a:ext cx="1993392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Stockage Vidéo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3474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Storage · Cloudflare CDN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50592" y="2834640"/>
            <a:ext cx="1993392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50592" y="2834640"/>
            <a:ext cx="1993392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542032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IA &amp; Analyse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542032" y="3474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MediaPipe · TensorFlow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26864" y="2834640"/>
            <a:ext cx="1993392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26864" y="2834640"/>
            <a:ext cx="1993392" cy="91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718304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Notifications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718304" y="3474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 · Push iOS &amp; Android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03136" y="2834640"/>
            <a:ext cx="1993392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3136" y="2834640"/>
            <a:ext cx="1993392" cy="91440"/>
          </a:xfrm>
          <a:prstGeom prst="rect">
            <a:avLst/>
          </a:prstGeom>
          <a:solidFill>
            <a:srgbClr val="267F5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94576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7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Paiement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894576" y="3474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Wave · Orange Money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921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Développement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7500" y="2510920"/>
            <a:ext cx="8520740" cy="45719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6" name="Shape 4"/>
          <p:cNvSpPr/>
          <p:nvPr/>
        </p:nvSpPr>
        <p:spPr>
          <a:xfrm>
            <a:off x="859223" y="2419480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" name="Shape 5"/>
          <p:cNvSpPr/>
          <p:nvPr/>
        </p:nvSpPr>
        <p:spPr>
          <a:xfrm>
            <a:off x="184990" y="865000"/>
            <a:ext cx="1554480" cy="1463040"/>
          </a:xfrm>
          <a:prstGeom prst="rect">
            <a:avLst/>
          </a:prstGeom>
          <a:solidFill>
            <a:srgbClr val="F4F6F8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423" y="910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1220" y="1185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1220" y="1459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5500" y="2739520"/>
            <a:ext cx="1554480" cy="1600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6940" y="28309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Maquettes Figma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 équipe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82920" y="2419480"/>
            <a:ext cx="237744" cy="237744"/>
          </a:xfrm>
          <a:prstGeom prst="ellipse">
            <a:avLst/>
          </a:prstGeom>
          <a:solidFill>
            <a:srgbClr val="1B5E3B"/>
          </a:solidFill>
          <a:ln/>
        </p:spPr>
      </p:sp>
      <p:sp>
        <p:nvSpPr>
          <p:cNvPr id="14" name="Shape 12"/>
          <p:cNvSpPr/>
          <p:nvPr/>
        </p:nvSpPr>
        <p:spPr>
          <a:xfrm>
            <a:off x="2013790" y="865000"/>
            <a:ext cx="1554480" cy="1463040"/>
          </a:xfrm>
          <a:prstGeom prst="rect">
            <a:avLst/>
          </a:prstGeom>
          <a:solidFill>
            <a:srgbClr val="F4F6F8"/>
          </a:solidFill>
          <a:ln w="19050">
            <a:solidFill>
              <a:srgbClr val="1B5E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80223" y="910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070020" y="1185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LEAN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070020" y="1459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24300" y="2739520"/>
            <a:ext cx="1554480" cy="1600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15740" y="28309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Flutter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+ Profils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vidéo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0190" y="2419480"/>
            <a:ext cx="237744" cy="237744"/>
          </a:xfrm>
          <a:prstGeom prst="ellipse">
            <a:avLst/>
          </a:prstGeom>
          <a:solidFill>
            <a:srgbClr val="1A73C8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2590" y="865000"/>
            <a:ext cx="1554480" cy="1463040"/>
          </a:xfrm>
          <a:prstGeom prst="rect">
            <a:avLst/>
          </a:prstGeom>
          <a:solidFill>
            <a:srgbClr val="F4F6F8"/>
          </a:solidFill>
          <a:ln w="19050">
            <a:solidFill>
              <a:srgbClr val="1A73C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09023" y="910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898820" y="1185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898820" y="1459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mois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53100" y="2739520"/>
            <a:ext cx="1554480" cy="1600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44540" y="28309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profils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clubs Abidjan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Retours terrain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1540" y="2419480"/>
            <a:ext cx="237744" cy="23774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Shape 26"/>
          <p:cNvSpPr/>
          <p:nvPr/>
        </p:nvSpPr>
        <p:spPr>
          <a:xfrm>
            <a:off x="5671390" y="865000"/>
            <a:ext cx="1554480" cy="1463040"/>
          </a:xfrm>
          <a:prstGeom prst="rect">
            <a:avLst/>
          </a:prstGeom>
          <a:solidFill>
            <a:srgbClr val="F4F6F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37823" y="910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727620" y="1185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Monétisation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727620" y="1459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mois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81900" y="2739520"/>
            <a:ext cx="1554480" cy="1600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73340" y="28309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Publicité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Premiers revenus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973673" y="2419480"/>
            <a:ext cx="237744" cy="23774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5" name="Shape 33"/>
          <p:cNvSpPr/>
          <p:nvPr/>
        </p:nvSpPr>
        <p:spPr>
          <a:xfrm>
            <a:off x="7383523" y="865000"/>
            <a:ext cx="1554480" cy="1463040"/>
          </a:xfrm>
          <a:prstGeom prst="rect">
            <a:avLst/>
          </a:prstGeom>
          <a:solidFill>
            <a:srgbClr val="F4F6F8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49956" y="910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439753" y="1185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439753" y="1459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94033" y="2739520"/>
            <a:ext cx="1554480" cy="1600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85473" y="28309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Levée de fonds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CI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Afrique Ouest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MVP &amp; Équipe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200400" cy="3200400"/>
          </a:xfrm>
          <a:prstGeom prst="ellipse">
            <a:avLst/>
          </a:prstGeom>
          <a:solidFill>
            <a:srgbClr val="E8F5EE"/>
          </a:solidFill>
          <a:ln w="38100">
            <a:solidFill>
              <a:srgbClr val="1B5E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03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5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10 000 €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Total MVP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868680"/>
            <a:ext cx="137160" cy="347472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868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Flutter full-stack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8686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5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5 500 € · 55%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463040"/>
            <a:ext cx="137160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3400" y="1463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terrain Abidjan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1463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1 500 € · 15%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2057400"/>
            <a:ext cx="137160" cy="347472"/>
          </a:xfrm>
          <a:prstGeom prst="rect">
            <a:avLst/>
          </a:prstGeom>
          <a:solidFill>
            <a:srgbClr val="1A73C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43400" y="2057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UX/UI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2057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7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800 € · 8%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2651760"/>
            <a:ext cx="13716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43400" y="2651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Cloud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2651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400 € · 4%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0" y="3246120"/>
            <a:ext cx="13716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43400" y="3246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Juridique &amp; CGU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32461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400 € · 4%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0" y="3840480"/>
            <a:ext cx="137160" cy="347472"/>
          </a:xfrm>
          <a:prstGeom prst="rect">
            <a:avLst/>
          </a:prstGeom>
          <a:solidFill>
            <a:srgbClr val="6B778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343400" y="3840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Réserve imprévus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3840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700 € · 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0" y="4434840"/>
            <a:ext cx="137160" cy="347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43400" y="4434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Autres (stores, KYC…)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44348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700 € · 7%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0" y="4663440"/>
            <a:ext cx="4709160" cy="45720"/>
          </a:xfrm>
          <a:prstGeom prst="rect">
            <a:avLst/>
          </a:prstGeom>
          <a:solidFill>
            <a:srgbClr val="D0D7DE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365760"/>
            <a:ext cx="2743200" cy="2743200"/>
          </a:xfrm>
          <a:prstGeom prst="ellipse">
            <a:avLst/>
          </a:prstGeom>
          <a:solidFill>
            <a:srgbClr val="0D3D2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0" y="36576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🏆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</a:t>
            </a:r>
            <a:r>
              <a:rPr lang="en-US" sz="5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de Nouveaux Talents — Côte d'Ivoire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www.Oyop-mt.com</a:t>
            </a:r>
            <a:r>
              <a:rPr lang="en-US" sz="1200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200" dirty="0" err="1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contact@oyop-mt.com</a:t>
            </a:r>
            <a:r>
              <a:rPr lang="en-US" sz="1200" dirty="0">
                <a:solidFill>
                  <a:srgbClr val="A8D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@DeNota_CI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673</Words>
  <Application>Microsoft Macintosh PowerPoint</Application>
  <PresentationFormat>Affichage à l'écran (16:9)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Gardner Mee</cp:lastModifiedBy>
  <cp:revision>2</cp:revision>
  <dcterms:created xsi:type="dcterms:W3CDTF">2026-09-14T18:16:00Z</dcterms:created>
  <dcterms:modified xsi:type="dcterms:W3CDTF">2026-10-12T02:31:03Z</dcterms:modified>
</cp:coreProperties>
</file>