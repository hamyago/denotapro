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0D1B2A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109728" cy="5143500"/>
          </a:xfrm>
          <a:prstGeom prst="rect">
            <a:avLst/>
          </a:prstGeom>
          <a:solidFill>
            <a:srgbClr val="1B5E3B"/>
          </a:solidFill>
          <a:ln/>
        </p:spPr>
      </p:sp>
      <p:sp>
        <p:nvSpPr>
          <p:cNvPr id="4" name="Shape 2"/>
          <p:cNvSpPr/>
          <p:nvPr/>
        </p:nvSpPr>
        <p:spPr>
          <a:xfrm>
            <a:off x="109728" y="0"/>
            <a:ext cx="9034272" cy="54864"/>
          </a:xfrm>
          <a:prstGeom prst="rect">
            <a:avLst/>
          </a:prstGeom>
          <a:solidFill>
            <a:srgbClr val="F5A623"/>
          </a:solidFill>
          <a:ln/>
        </p:spPr>
      </p:sp>
      <p:sp>
        <p:nvSpPr>
          <p:cNvPr id="5" name="Shape 3"/>
          <p:cNvSpPr/>
          <p:nvPr/>
        </p:nvSpPr>
        <p:spPr>
          <a:xfrm>
            <a:off x="640080" y="1005840"/>
            <a:ext cx="1920240" cy="1920240"/>
          </a:xfrm>
          <a:prstGeom prst="ellipse">
            <a:avLst/>
          </a:prstGeom>
          <a:solidFill>
            <a:srgbClr val="1B5E3B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640080" y="1005840"/>
            <a:ext cx="1920240" cy="1920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5600" dirty="0">
                <a:solidFill>
                  <a:srgbClr val="000000"/>
                </a:solidFill>
              </a:rPr>
              <a:t>🏆</a:t>
            </a:r>
            <a:endParaRPr lang="en-US" sz="5600" dirty="0"/>
          </a:p>
        </p:txBody>
      </p:sp>
      <p:sp>
        <p:nvSpPr>
          <p:cNvPr id="7" name="Text 5"/>
          <p:cNvSpPr txBox="1"/>
          <p:nvPr/>
        </p:nvSpPr>
        <p:spPr>
          <a:xfrm>
            <a:off x="2834640" y="1234440"/>
            <a:ext cx="59436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</a:t>
            </a:r>
            <a:pPr indent="0" marL="0">
              <a:buNone/>
            </a:pPr>
            <a:r>
              <a:rPr lang="en-US" sz="6400" b="1" dirty="0">
                <a:solidFill>
                  <a:srgbClr val="F5A62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</a:t>
            </a:r>
            <a:pPr indent="0" marL="0">
              <a:buNone/>
            </a:pPr>
            <a:r>
              <a:rPr lang="en-US" sz="6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Ta</a:t>
            </a:r>
            <a:endParaRPr lang="en-US" sz="6400" dirty="0"/>
          </a:p>
        </p:txBody>
      </p:sp>
      <p:sp>
        <p:nvSpPr>
          <p:cNvPr id="8" name="Text 6"/>
          <p:cNvSpPr txBox="1"/>
          <p:nvPr/>
        </p:nvSpPr>
        <p:spPr>
          <a:xfrm>
            <a:off x="2834640" y="2103120"/>
            <a:ext cx="5943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i="1" dirty="0">
                <a:solidFill>
                  <a:srgbClr val="F5A62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Détection de Nouveaux Talents</a:t>
            </a:r>
            <a:endParaRPr lang="en-US" sz="1800" dirty="0"/>
          </a:p>
        </p:txBody>
      </p:sp>
      <p:sp>
        <p:nvSpPr>
          <p:cNvPr id="9" name="Text 7"/>
          <p:cNvSpPr txBox="1"/>
          <p:nvPr/>
        </p:nvSpPr>
        <p:spPr>
          <a:xfrm>
            <a:off x="2834640" y="2606040"/>
            <a:ext cx="5943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A0AEC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Application Mobile &amp; Web · Côte d'Ivoire · 2026</a:t>
            </a:r>
            <a:endParaRPr lang="en-US" sz="1300" dirty="0"/>
          </a:p>
        </p:txBody>
      </p:sp>
      <p:sp>
        <p:nvSpPr>
          <p:cNvPr id="10" name="Shape 8"/>
          <p:cNvSpPr/>
          <p:nvPr/>
        </p:nvSpPr>
        <p:spPr>
          <a:xfrm>
            <a:off x="109728" y="4114800"/>
            <a:ext cx="9034272" cy="914400"/>
          </a:xfrm>
          <a:prstGeom prst="rect">
            <a:avLst/>
          </a:prstGeom>
          <a:solidFill>
            <a:srgbClr val="1B5E3B"/>
          </a:solidFill>
          <a:ln/>
        </p:spPr>
      </p:sp>
      <p:sp>
        <p:nvSpPr>
          <p:cNvPr id="11" name="Text 9"/>
          <p:cNvSpPr txBox="1"/>
          <p:nvPr/>
        </p:nvSpPr>
        <p:spPr>
          <a:xfrm>
            <a:off x="457200" y="4160520"/>
            <a:ext cx="83210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La plateforme qui révèle les talents sportifs d'Afrique de l'Ouest</a:t>
            </a:r>
            <a:endParaRPr lang="en-US" sz="14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9144000" cy="685800"/>
          </a:xfrm>
          <a:prstGeom prst="rect">
            <a:avLst/>
          </a:prstGeom>
          <a:solidFill>
            <a:srgbClr val="1B5E3B"/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365760" y="91440"/>
            <a:ext cx="84124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Le Problème &amp; L'Opportunité</a:t>
            </a:r>
            <a:endParaRPr lang="en-US" sz="2200" dirty="0"/>
          </a:p>
        </p:txBody>
      </p:sp>
      <p:sp>
        <p:nvSpPr>
          <p:cNvPr id="5" name="Shape 3"/>
          <p:cNvSpPr/>
          <p:nvPr/>
        </p:nvSpPr>
        <p:spPr>
          <a:xfrm>
            <a:off x="365760" y="868680"/>
            <a:ext cx="4023360" cy="3840480"/>
          </a:xfrm>
          <a:prstGeom prst="rect">
            <a:avLst/>
          </a:prstGeom>
          <a:solidFill>
            <a:srgbClr val="FEF2F2"/>
          </a:solidFill>
          <a:ln w="12700">
            <a:solidFill>
              <a:srgbClr val="FCA5A5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502920" y="960120"/>
            <a:ext cx="37490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B91C1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⚠️  Le Problème</a:t>
            </a:r>
            <a:endParaRPr lang="en-US" sz="1600" dirty="0"/>
          </a:p>
        </p:txBody>
      </p:sp>
      <p:sp>
        <p:nvSpPr>
          <p:cNvPr id="7" name="Text 5"/>
          <p:cNvSpPr txBox="1"/>
          <p:nvPr/>
        </p:nvSpPr>
        <p:spPr>
          <a:xfrm>
            <a:off x="548640" y="1463040"/>
            <a:ext cx="374904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2D374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Des milliers de talents sportifs en Afrique de l'Ouest restent inconnus faute de visibilité</a:t>
            </a:r>
            <a:endParaRPr lang="en-US" sz="1200" dirty="0"/>
          </a:p>
        </p:txBody>
      </p:sp>
      <p:sp>
        <p:nvSpPr>
          <p:cNvPr id="8" name="Text 6"/>
          <p:cNvSpPr txBox="1"/>
          <p:nvPr/>
        </p:nvSpPr>
        <p:spPr>
          <a:xfrm>
            <a:off x="548640" y="2121408"/>
            <a:ext cx="374904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2D374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Pas de plateforme digitale dédiée à la détection sportive en Côte d'Ivoire</a:t>
            </a:r>
            <a:endParaRPr lang="en-US" sz="1200" dirty="0"/>
          </a:p>
        </p:txBody>
      </p:sp>
      <p:sp>
        <p:nvSpPr>
          <p:cNvPr id="9" name="Text 7"/>
          <p:cNvSpPr txBox="1"/>
          <p:nvPr/>
        </p:nvSpPr>
        <p:spPr>
          <a:xfrm>
            <a:off x="548640" y="2779776"/>
            <a:ext cx="374904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2D374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Les recruteurs manquent d'outils pour identifier les profils prometteurs</a:t>
            </a:r>
            <a:endParaRPr lang="en-US" sz="1200" dirty="0"/>
          </a:p>
        </p:txBody>
      </p:sp>
      <p:sp>
        <p:nvSpPr>
          <p:cNvPr id="10" name="Text 8"/>
          <p:cNvSpPr txBox="1"/>
          <p:nvPr/>
        </p:nvSpPr>
        <p:spPr>
          <a:xfrm>
            <a:off x="548640" y="3438144"/>
            <a:ext cx="374904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2D374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Les jeunes talents n'ont aucun moyen de se faire remarquer professionnellement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4754880" y="868680"/>
            <a:ext cx="4023360" cy="3840480"/>
          </a:xfrm>
          <a:prstGeom prst="rect">
            <a:avLst/>
          </a:prstGeom>
          <a:solidFill>
            <a:srgbClr val="E8F5EE"/>
          </a:solidFill>
          <a:ln w="12700">
            <a:solidFill>
              <a:srgbClr val="267F50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4892040" y="960120"/>
            <a:ext cx="37490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B5E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✅  L'Opportunité</a:t>
            </a:r>
            <a:endParaRPr lang="en-US" sz="1600" dirty="0"/>
          </a:p>
        </p:txBody>
      </p:sp>
      <p:sp>
        <p:nvSpPr>
          <p:cNvPr id="13" name="Text 11"/>
          <p:cNvSpPr txBox="1"/>
          <p:nvPr/>
        </p:nvSpPr>
        <p:spPr>
          <a:xfrm>
            <a:off x="4892040" y="1463040"/>
            <a:ext cx="374904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2D374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40 millions de jeunes en Afrique de l'Ouest avec une forte culture sportive</a:t>
            </a:r>
            <a:endParaRPr lang="en-US" sz="1200" dirty="0"/>
          </a:p>
        </p:txBody>
      </p:sp>
      <p:sp>
        <p:nvSpPr>
          <p:cNvPr id="14" name="Text 12"/>
          <p:cNvSpPr txBox="1"/>
          <p:nvPr/>
        </p:nvSpPr>
        <p:spPr>
          <a:xfrm>
            <a:off x="4892040" y="2121408"/>
            <a:ext cx="374904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2D374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Pénétration smartphone croissante : 65%+ en Côte d'Ivoire</a:t>
            </a:r>
            <a:endParaRPr lang="en-US" sz="1200" dirty="0"/>
          </a:p>
        </p:txBody>
      </p:sp>
      <p:sp>
        <p:nvSpPr>
          <p:cNvPr id="15" name="Text 13"/>
          <p:cNvSpPr txBox="1"/>
          <p:nvPr/>
        </p:nvSpPr>
        <p:spPr>
          <a:xfrm>
            <a:off x="4892040" y="2779776"/>
            <a:ext cx="374904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2D374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Marché du sport africain en pleine explosion (FIFA, NBA Africa, CAN)</a:t>
            </a:r>
            <a:endParaRPr lang="en-US" sz="1200" dirty="0"/>
          </a:p>
        </p:txBody>
      </p:sp>
      <p:sp>
        <p:nvSpPr>
          <p:cNvPr id="16" name="Text 14"/>
          <p:cNvSpPr txBox="1"/>
          <p:nvPr/>
        </p:nvSpPr>
        <p:spPr>
          <a:xfrm>
            <a:off x="4892040" y="3438144"/>
            <a:ext cx="374904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2D374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Aucun concurrent direct établi sur ce segment en Afrique francophone</a:t>
            </a:r>
            <a:endParaRPr lang="en-US" sz="12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0D1B2A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9144000" cy="685800"/>
          </a:xfrm>
          <a:prstGeom prst="rect">
            <a:avLst/>
          </a:prstGeom>
          <a:solidFill>
            <a:srgbClr val="1B5E3B"/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365760" y="91440"/>
            <a:ext cx="84124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La Solution : DeNoTa</a:t>
            </a:r>
            <a:endParaRPr lang="en-US" sz="2200" dirty="0"/>
          </a:p>
        </p:txBody>
      </p:sp>
      <p:sp>
        <p:nvSpPr>
          <p:cNvPr id="5" name="Text 3"/>
          <p:cNvSpPr txBox="1"/>
          <p:nvPr/>
        </p:nvSpPr>
        <p:spPr>
          <a:xfrm>
            <a:off x="365760" y="822960"/>
            <a:ext cx="8412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F5A62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Une plateforme tout-en-un qui connecte talents, institutions et recruteurs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365760" y="1371600"/>
            <a:ext cx="2011680" cy="3383280"/>
          </a:xfrm>
          <a:prstGeom prst="rect">
            <a:avLst/>
          </a:prstGeom>
          <a:solidFill>
            <a:srgbClr val="1A2D40"/>
          </a:solidFill>
          <a:ln w="12700">
            <a:solidFill>
              <a:srgbClr val="1B5E3B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365760" y="1508760"/>
            <a:ext cx="20116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dirty="0">
                <a:solidFill>
                  <a:srgbClr val="000000"/>
                </a:solidFill>
              </a:rPr>
              <a:t>🏃</a:t>
            </a:r>
            <a:endParaRPr lang="en-US" sz="3600" dirty="0"/>
          </a:p>
        </p:txBody>
      </p:sp>
      <p:sp>
        <p:nvSpPr>
          <p:cNvPr id="8" name="Text 6"/>
          <p:cNvSpPr txBox="1"/>
          <p:nvPr/>
        </p:nvSpPr>
        <p:spPr>
          <a:xfrm>
            <a:off x="457200" y="2240280"/>
            <a:ext cx="18288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5A62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Profil Sportif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822960" y="2651760"/>
            <a:ext cx="1097280" cy="27432"/>
          </a:xfrm>
          <a:prstGeom prst="rect">
            <a:avLst/>
          </a:prstGeom>
          <a:solidFill>
            <a:srgbClr val="1B5E3B"/>
          </a:solidFill>
          <a:ln/>
        </p:spPr>
      </p:sp>
      <p:sp>
        <p:nvSpPr>
          <p:cNvPr id="10" name="Text 8"/>
          <p:cNvSpPr txBox="1"/>
          <p:nvPr/>
        </p:nvSpPr>
        <p:spPr>
          <a:xfrm>
            <a:off x="457200" y="2743200"/>
            <a:ext cx="182880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A0B4C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Vidéos, stats, palmarès</a:t>
            </a:r>
            <a:endParaRPr lang="en-US" sz="1100" dirty="0"/>
          </a:p>
          <a:p>
            <a:pPr algn="ctr" indent="0" marL="0">
              <a:buNone/>
            </a:pPr>
            <a:r>
              <a:rPr lang="en-US" sz="1100" dirty="0">
                <a:solidFill>
                  <a:srgbClr val="A0B4C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Talent Score™ IA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2651760" y="1371600"/>
            <a:ext cx="2011680" cy="3383280"/>
          </a:xfrm>
          <a:prstGeom prst="rect">
            <a:avLst/>
          </a:prstGeom>
          <a:solidFill>
            <a:srgbClr val="1A2D40"/>
          </a:solidFill>
          <a:ln w="12700">
            <a:solidFill>
              <a:srgbClr val="1B5E3B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2651760" y="1508760"/>
            <a:ext cx="20116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dirty="0">
                <a:solidFill>
                  <a:srgbClr val="000000"/>
                </a:solidFill>
              </a:rPr>
              <a:t>🔍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2743200" y="2240280"/>
            <a:ext cx="18288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5A62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Détection</a:t>
            </a:r>
            <a:endParaRPr lang="en-US" sz="1400" dirty="0"/>
          </a:p>
        </p:txBody>
      </p:sp>
      <p:sp>
        <p:nvSpPr>
          <p:cNvPr id="14" name="Shape 12"/>
          <p:cNvSpPr/>
          <p:nvPr/>
        </p:nvSpPr>
        <p:spPr>
          <a:xfrm>
            <a:off x="3108960" y="2651760"/>
            <a:ext cx="1097280" cy="27432"/>
          </a:xfrm>
          <a:prstGeom prst="rect">
            <a:avLst/>
          </a:prstGeom>
          <a:solidFill>
            <a:srgbClr val="1B5E3B"/>
          </a:solidFill>
          <a:ln/>
        </p:spPr>
      </p:sp>
      <p:sp>
        <p:nvSpPr>
          <p:cNvPr id="15" name="Text 13"/>
          <p:cNvSpPr txBox="1"/>
          <p:nvPr/>
        </p:nvSpPr>
        <p:spPr>
          <a:xfrm>
            <a:off x="2743200" y="2743200"/>
            <a:ext cx="182880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A0B4C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Recherche avancée</a:t>
            </a:r>
            <a:endParaRPr lang="en-US" sz="1100" dirty="0"/>
          </a:p>
          <a:p>
            <a:pPr algn="ctr" indent="0" marL="0">
              <a:buNone/>
            </a:pPr>
            <a:r>
              <a:rPr lang="en-US" sz="1100" dirty="0">
                <a:solidFill>
                  <a:srgbClr val="A0B4C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Carte interactive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4937760" y="1371600"/>
            <a:ext cx="2011680" cy="3383280"/>
          </a:xfrm>
          <a:prstGeom prst="rect">
            <a:avLst/>
          </a:prstGeom>
          <a:solidFill>
            <a:srgbClr val="1A2D40"/>
          </a:solidFill>
          <a:ln w="12700">
            <a:solidFill>
              <a:srgbClr val="1B5E3B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4937760" y="1508760"/>
            <a:ext cx="20116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dirty="0">
                <a:solidFill>
                  <a:srgbClr val="000000"/>
                </a:solidFill>
              </a:rPr>
              <a:t>🤝</a:t>
            </a:r>
            <a:endParaRPr lang="en-US" sz="3600" dirty="0"/>
          </a:p>
        </p:txBody>
      </p:sp>
      <p:sp>
        <p:nvSpPr>
          <p:cNvPr id="18" name="Text 16"/>
          <p:cNvSpPr txBox="1"/>
          <p:nvPr/>
        </p:nvSpPr>
        <p:spPr>
          <a:xfrm>
            <a:off x="5029200" y="2240280"/>
            <a:ext cx="18288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5A62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Recrutement</a:t>
            </a:r>
            <a:endParaRPr lang="en-US" sz="1400" dirty="0"/>
          </a:p>
        </p:txBody>
      </p:sp>
      <p:sp>
        <p:nvSpPr>
          <p:cNvPr id="19" name="Shape 17"/>
          <p:cNvSpPr/>
          <p:nvPr/>
        </p:nvSpPr>
        <p:spPr>
          <a:xfrm>
            <a:off x="5394960" y="2651760"/>
            <a:ext cx="1097280" cy="27432"/>
          </a:xfrm>
          <a:prstGeom prst="rect">
            <a:avLst/>
          </a:prstGeom>
          <a:solidFill>
            <a:srgbClr val="1B5E3B"/>
          </a:solidFill>
          <a:ln/>
        </p:spPr>
      </p:sp>
      <p:sp>
        <p:nvSpPr>
          <p:cNvPr id="20" name="Text 18"/>
          <p:cNvSpPr txBox="1"/>
          <p:nvPr/>
        </p:nvSpPr>
        <p:spPr>
          <a:xfrm>
            <a:off x="5029200" y="2743200"/>
            <a:ext cx="182880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A0B4C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Messagerie Premium</a:t>
            </a:r>
            <a:endParaRPr lang="en-US" sz="1100" dirty="0"/>
          </a:p>
          <a:p>
            <a:pPr algn="ctr" indent="0" marL="0">
              <a:buNone/>
            </a:pPr>
            <a:r>
              <a:rPr lang="en-US" sz="1100" dirty="0">
                <a:solidFill>
                  <a:srgbClr val="A0B4C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Mise en relation</a:t>
            </a:r>
            <a:endParaRPr lang="en-US" sz="1100" dirty="0"/>
          </a:p>
        </p:txBody>
      </p:sp>
      <p:sp>
        <p:nvSpPr>
          <p:cNvPr id="21" name="Shape 19"/>
          <p:cNvSpPr/>
          <p:nvPr/>
        </p:nvSpPr>
        <p:spPr>
          <a:xfrm>
            <a:off x="7223760" y="1371600"/>
            <a:ext cx="2011680" cy="3383280"/>
          </a:xfrm>
          <a:prstGeom prst="rect">
            <a:avLst/>
          </a:prstGeom>
          <a:solidFill>
            <a:srgbClr val="1A2D40"/>
          </a:solidFill>
          <a:ln w="12700">
            <a:solidFill>
              <a:srgbClr val="1B5E3B"/>
            </a:solidFill>
            <a:prstDash val="solid"/>
          </a:ln>
        </p:spPr>
      </p:sp>
      <p:sp>
        <p:nvSpPr>
          <p:cNvPr id="22" name="Text 20"/>
          <p:cNvSpPr txBox="1"/>
          <p:nvPr/>
        </p:nvSpPr>
        <p:spPr>
          <a:xfrm>
            <a:off x="7223760" y="1508760"/>
            <a:ext cx="20116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dirty="0">
                <a:solidFill>
                  <a:srgbClr val="000000"/>
                </a:solidFill>
              </a:rPr>
              <a:t>💰</a:t>
            </a:r>
            <a:endParaRPr lang="en-US" sz="3600" dirty="0"/>
          </a:p>
        </p:txBody>
      </p:sp>
      <p:sp>
        <p:nvSpPr>
          <p:cNvPr id="23" name="Text 21"/>
          <p:cNvSpPr txBox="1"/>
          <p:nvPr/>
        </p:nvSpPr>
        <p:spPr>
          <a:xfrm>
            <a:off x="7315200" y="2240280"/>
            <a:ext cx="18288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5A62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Monétisation</a:t>
            </a:r>
            <a:endParaRPr lang="en-US" sz="1400" dirty="0"/>
          </a:p>
        </p:txBody>
      </p:sp>
      <p:sp>
        <p:nvSpPr>
          <p:cNvPr id="24" name="Shape 22"/>
          <p:cNvSpPr/>
          <p:nvPr/>
        </p:nvSpPr>
        <p:spPr>
          <a:xfrm>
            <a:off x="7680960" y="2651760"/>
            <a:ext cx="1097280" cy="27432"/>
          </a:xfrm>
          <a:prstGeom prst="rect">
            <a:avLst/>
          </a:prstGeom>
          <a:solidFill>
            <a:srgbClr val="1B5E3B"/>
          </a:solidFill>
          <a:ln/>
        </p:spPr>
      </p:sp>
      <p:sp>
        <p:nvSpPr>
          <p:cNvPr id="25" name="Text 23"/>
          <p:cNvSpPr txBox="1"/>
          <p:nvPr/>
        </p:nvSpPr>
        <p:spPr>
          <a:xfrm>
            <a:off x="7315200" y="2743200"/>
            <a:ext cx="182880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A0B4C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Wave · CinetPay</a:t>
            </a:r>
            <a:endParaRPr lang="en-US" sz="1100" dirty="0"/>
          </a:p>
          <a:p>
            <a:pPr algn="ctr" indent="0" marL="0">
              <a:buNone/>
            </a:pPr>
            <a:r>
              <a:rPr lang="en-US" sz="1100" dirty="0">
                <a:solidFill>
                  <a:srgbClr val="A0B4C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Orange Money</a:t>
            </a:r>
            <a:endParaRPr lang="en-US" sz="11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9144000" cy="685800"/>
          </a:xfrm>
          <a:prstGeom prst="rect">
            <a:avLst/>
          </a:prstGeom>
          <a:solidFill>
            <a:srgbClr val="1B5E3B"/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365760" y="91440"/>
            <a:ext cx="84124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Fonctionnalités Clés</a:t>
            </a:r>
            <a:endParaRPr lang="en-US" sz="2200" dirty="0"/>
          </a:p>
        </p:txBody>
      </p:sp>
      <p:sp>
        <p:nvSpPr>
          <p:cNvPr id="5" name="Shape 3"/>
          <p:cNvSpPr/>
          <p:nvPr/>
        </p:nvSpPr>
        <p:spPr>
          <a:xfrm>
            <a:off x="274320" y="868680"/>
            <a:ext cx="2743200" cy="1783080"/>
          </a:xfrm>
          <a:prstGeom prst="rect">
            <a:avLst/>
          </a:prstGeom>
          <a:solidFill>
            <a:srgbClr val="F4F6F8"/>
          </a:solidFill>
          <a:ln w="12700">
            <a:solidFill>
              <a:srgbClr val="D0D7DE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411480" y="978408"/>
            <a:ext cx="24688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B5E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🤖  IA Analyse Vidéo</a:t>
            </a:r>
            <a:endParaRPr lang="en-US" sz="1300" dirty="0"/>
          </a:p>
        </p:txBody>
      </p:sp>
      <p:sp>
        <p:nvSpPr>
          <p:cNvPr id="7" name="Text 5"/>
          <p:cNvSpPr txBox="1"/>
          <p:nvPr/>
        </p:nvSpPr>
        <p:spPr>
          <a:xfrm>
            <a:off x="411480" y="1399032"/>
            <a:ext cx="246888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2D374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Extraction automatique de métriques de performance depuis les vidéos (vitesse, précision, posture)</a:t>
            </a:r>
            <a:endParaRPr lang="en-US" sz="1050" dirty="0"/>
          </a:p>
        </p:txBody>
      </p:sp>
      <p:sp>
        <p:nvSpPr>
          <p:cNvPr id="8" name="Shape 6"/>
          <p:cNvSpPr/>
          <p:nvPr/>
        </p:nvSpPr>
        <p:spPr>
          <a:xfrm>
            <a:off x="3246120" y="868680"/>
            <a:ext cx="2743200" cy="1783080"/>
          </a:xfrm>
          <a:prstGeom prst="rect">
            <a:avLst/>
          </a:prstGeom>
          <a:solidFill>
            <a:srgbClr val="F4F6F8"/>
          </a:solidFill>
          <a:ln w="12700">
            <a:solidFill>
              <a:srgbClr val="D0D7DE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383280" y="978408"/>
            <a:ext cx="24688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B5E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⭐  Talent Score™</a:t>
            </a:r>
            <a:endParaRPr lang="en-US" sz="1300" dirty="0"/>
          </a:p>
        </p:txBody>
      </p:sp>
      <p:sp>
        <p:nvSpPr>
          <p:cNvPr id="10" name="Text 8"/>
          <p:cNvSpPr txBox="1"/>
          <p:nvPr/>
        </p:nvSpPr>
        <p:spPr>
          <a:xfrm>
            <a:off x="3383280" y="1399032"/>
            <a:ext cx="246888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2D374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Score composite 0-100 calculé via IA + notations d'experts + engagement + statistiques vérifiées</a:t>
            </a:r>
            <a:endParaRPr lang="en-US" sz="1050" dirty="0"/>
          </a:p>
        </p:txBody>
      </p:sp>
      <p:sp>
        <p:nvSpPr>
          <p:cNvPr id="11" name="Shape 9"/>
          <p:cNvSpPr/>
          <p:nvPr/>
        </p:nvSpPr>
        <p:spPr>
          <a:xfrm>
            <a:off x="6217920" y="868680"/>
            <a:ext cx="2743200" cy="1783080"/>
          </a:xfrm>
          <a:prstGeom prst="rect">
            <a:avLst/>
          </a:prstGeom>
          <a:solidFill>
            <a:srgbClr val="F4F6F8"/>
          </a:solidFill>
          <a:ln w="12700">
            <a:solidFill>
              <a:srgbClr val="D0D7DE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6355080" y="978408"/>
            <a:ext cx="24688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B5E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🗺️  Carte des Talents</a:t>
            </a:r>
            <a:endParaRPr lang="en-US" sz="1300" dirty="0"/>
          </a:p>
        </p:txBody>
      </p:sp>
      <p:sp>
        <p:nvSpPr>
          <p:cNvPr id="13" name="Text 11"/>
          <p:cNvSpPr txBox="1"/>
          <p:nvPr/>
        </p:nvSpPr>
        <p:spPr>
          <a:xfrm>
            <a:off x="6355080" y="1399032"/>
            <a:ext cx="246888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2D374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Visualisation géographique interactive de tous les talents par sport, niveau et disponibilité</a:t>
            </a:r>
            <a:endParaRPr lang="en-US" sz="1050" dirty="0"/>
          </a:p>
        </p:txBody>
      </p:sp>
      <p:sp>
        <p:nvSpPr>
          <p:cNvPr id="14" name="Shape 12"/>
          <p:cNvSpPr/>
          <p:nvPr/>
        </p:nvSpPr>
        <p:spPr>
          <a:xfrm>
            <a:off x="274320" y="2834640"/>
            <a:ext cx="2743200" cy="1783080"/>
          </a:xfrm>
          <a:prstGeom prst="rect">
            <a:avLst/>
          </a:prstGeom>
          <a:solidFill>
            <a:srgbClr val="F4F6F8"/>
          </a:solidFill>
          <a:ln w="12700">
            <a:solidFill>
              <a:srgbClr val="D0D7DE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411480" y="2944368"/>
            <a:ext cx="24688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B5E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🏆  Challenges &amp; Tournois</a:t>
            </a:r>
            <a:endParaRPr lang="en-US" sz="1300" dirty="0"/>
          </a:p>
        </p:txBody>
      </p:sp>
      <p:sp>
        <p:nvSpPr>
          <p:cNvPr id="16" name="Text 14"/>
          <p:cNvSpPr txBox="1"/>
          <p:nvPr/>
        </p:nvSpPr>
        <p:spPr>
          <a:xfrm>
            <a:off x="411480" y="3364992"/>
            <a:ext cx="246888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2D374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Défis skills entre sportifs votés par la communauté — génère engagement et viralité</a:t>
            </a:r>
            <a:endParaRPr lang="en-US" sz="1050" dirty="0"/>
          </a:p>
        </p:txBody>
      </p:sp>
      <p:sp>
        <p:nvSpPr>
          <p:cNvPr id="17" name="Shape 15"/>
          <p:cNvSpPr/>
          <p:nvPr/>
        </p:nvSpPr>
        <p:spPr>
          <a:xfrm>
            <a:off x="3246120" y="2834640"/>
            <a:ext cx="2743200" cy="1783080"/>
          </a:xfrm>
          <a:prstGeom prst="rect">
            <a:avLst/>
          </a:prstGeom>
          <a:solidFill>
            <a:srgbClr val="F4F6F8"/>
          </a:solidFill>
          <a:ln w="12700">
            <a:solidFill>
              <a:srgbClr val="D0D7DE"/>
            </a:solidFill>
            <a:prstDash val="solid"/>
          </a:ln>
        </p:spPr>
      </p:sp>
      <p:sp>
        <p:nvSpPr>
          <p:cNvPr id="18" name="Text 16"/>
          <p:cNvSpPr txBox="1"/>
          <p:nvPr/>
        </p:nvSpPr>
        <p:spPr>
          <a:xfrm>
            <a:off x="3383280" y="2944368"/>
            <a:ext cx="24688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B5E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📊  PDF Scouting</a:t>
            </a:r>
            <a:endParaRPr lang="en-US" sz="1300" dirty="0"/>
          </a:p>
        </p:txBody>
      </p:sp>
      <p:sp>
        <p:nvSpPr>
          <p:cNvPr id="19" name="Text 17"/>
          <p:cNvSpPr txBox="1"/>
          <p:nvPr/>
        </p:nvSpPr>
        <p:spPr>
          <a:xfrm>
            <a:off x="3383280" y="3364992"/>
            <a:ext cx="246888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2D374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Génération automatique de rapports de scouting professionnels pour les recruteurs</a:t>
            </a:r>
            <a:endParaRPr lang="en-US" sz="1050" dirty="0"/>
          </a:p>
        </p:txBody>
      </p:sp>
      <p:sp>
        <p:nvSpPr>
          <p:cNvPr id="20" name="Shape 18"/>
          <p:cNvSpPr/>
          <p:nvPr/>
        </p:nvSpPr>
        <p:spPr>
          <a:xfrm>
            <a:off x="6217920" y="2834640"/>
            <a:ext cx="2743200" cy="1783080"/>
          </a:xfrm>
          <a:prstGeom prst="rect">
            <a:avLst/>
          </a:prstGeom>
          <a:solidFill>
            <a:srgbClr val="F4F6F8"/>
          </a:solidFill>
          <a:ln w="12700">
            <a:solidFill>
              <a:srgbClr val="D0D7DE"/>
            </a:solidFill>
            <a:prstDash val="solid"/>
          </a:ln>
        </p:spPr>
      </p:sp>
      <p:sp>
        <p:nvSpPr>
          <p:cNvPr id="21" name="Text 19"/>
          <p:cNvSpPr txBox="1"/>
          <p:nvPr/>
        </p:nvSpPr>
        <p:spPr>
          <a:xfrm>
            <a:off x="6355080" y="2944368"/>
            <a:ext cx="24688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B5E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📡  Live Streaming</a:t>
            </a:r>
            <a:endParaRPr lang="en-US" sz="1300" dirty="0"/>
          </a:p>
        </p:txBody>
      </p:sp>
      <p:sp>
        <p:nvSpPr>
          <p:cNvPr id="22" name="Text 20"/>
          <p:cNvSpPr txBox="1"/>
          <p:nvPr/>
        </p:nvSpPr>
        <p:spPr>
          <a:xfrm>
            <a:off x="6355080" y="3364992"/>
            <a:ext cx="246888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2D374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Diffusion en direct de matchs et entraînements avec chat interactif en temps réel</a:t>
            </a:r>
            <a:endParaRPr lang="en-US" sz="105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9144000" cy="685800"/>
          </a:xfrm>
          <a:prstGeom prst="rect">
            <a:avLst/>
          </a:prstGeom>
          <a:solidFill>
            <a:srgbClr val="0D1B2A"/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365760" y="91440"/>
            <a:ext cx="84124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Nos Utilisateurs</a:t>
            </a:r>
            <a:endParaRPr lang="en-US" sz="2200" dirty="0"/>
          </a:p>
        </p:txBody>
      </p:sp>
      <p:sp>
        <p:nvSpPr>
          <p:cNvPr id="5" name="Shape 3"/>
          <p:cNvSpPr/>
          <p:nvPr/>
        </p:nvSpPr>
        <p:spPr>
          <a:xfrm>
            <a:off x="365760" y="822960"/>
            <a:ext cx="1554480" cy="3931920"/>
          </a:xfrm>
          <a:prstGeom prst="rect">
            <a:avLst/>
          </a:prstGeom>
          <a:solidFill>
            <a:srgbClr val="E8F5EE"/>
          </a:solidFill>
          <a:ln w="25400">
            <a:solidFill>
              <a:srgbClr val="1B5E3B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365760" y="914400"/>
            <a:ext cx="1554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400" dirty="0">
                <a:solidFill>
                  <a:srgbClr val="000000"/>
                </a:solidFill>
              </a:rPr>
              <a:t>🏃</a:t>
            </a:r>
            <a:endParaRPr lang="en-US" sz="3400" dirty="0"/>
          </a:p>
        </p:txBody>
      </p:sp>
      <p:sp>
        <p:nvSpPr>
          <p:cNvPr id="7" name="Text 5"/>
          <p:cNvSpPr txBox="1"/>
          <p:nvPr/>
        </p:nvSpPr>
        <p:spPr>
          <a:xfrm>
            <a:off x="411480" y="1691640"/>
            <a:ext cx="1463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B5E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Sportif</a:t>
            </a:r>
            <a:endParaRPr lang="en-US" sz="1300" dirty="0"/>
          </a:p>
        </p:txBody>
      </p:sp>
      <p:sp>
        <p:nvSpPr>
          <p:cNvPr id="8" name="Shape 6"/>
          <p:cNvSpPr/>
          <p:nvPr/>
        </p:nvSpPr>
        <p:spPr>
          <a:xfrm>
            <a:off x="685800" y="2057400"/>
            <a:ext cx="914400" cy="27432"/>
          </a:xfrm>
          <a:prstGeom prst="rect">
            <a:avLst/>
          </a:prstGeom>
          <a:solidFill>
            <a:srgbClr val="1B5E3B"/>
          </a:solidFill>
          <a:ln/>
        </p:spPr>
      </p:sp>
      <p:sp>
        <p:nvSpPr>
          <p:cNvPr id="9" name="Text 7"/>
          <p:cNvSpPr txBox="1"/>
          <p:nvPr/>
        </p:nvSpPr>
        <p:spPr>
          <a:xfrm>
            <a:off x="457200" y="2148840"/>
            <a:ext cx="1371600" cy="2468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2D374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Crée son profil</a:t>
            </a:r>
            <a:endParaRPr lang="en-US" sz="1050" dirty="0"/>
          </a:p>
          <a:p>
            <a:pPr algn="ctr" indent="0" marL="0">
              <a:buNone/>
            </a:pPr>
            <a:r>
              <a:rPr lang="en-US" sz="1050" dirty="0">
                <a:solidFill>
                  <a:srgbClr val="2D374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Publie ses vidéos</a:t>
            </a:r>
            <a:endParaRPr lang="en-US" sz="1050" dirty="0"/>
          </a:p>
          <a:p>
            <a:pPr algn="ctr" indent="0" marL="0">
              <a:buNone/>
            </a:pPr>
            <a:r>
              <a:rPr lang="en-US" sz="1050" dirty="0">
                <a:solidFill>
                  <a:srgbClr val="2D374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Cherche à être recruté</a:t>
            </a:r>
            <a:endParaRPr lang="en-US" sz="1050" dirty="0"/>
          </a:p>
        </p:txBody>
      </p:sp>
      <p:sp>
        <p:nvSpPr>
          <p:cNvPr id="10" name="Shape 8"/>
          <p:cNvSpPr/>
          <p:nvPr/>
        </p:nvSpPr>
        <p:spPr>
          <a:xfrm>
            <a:off x="2103120" y="822960"/>
            <a:ext cx="1554480" cy="3931920"/>
          </a:xfrm>
          <a:prstGeom prst="rect">
            <a:avLst/>
          </a:prstGeom>
          <a:solidFill>
            <a:srgbClr val="EFF6FF"/>
          </a:solidFill>
          <a:ln w="25400">
            <a:solidFill>
              <a:srgbClr val="1A73C8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2103120" y="914400"/>
            <a:ext cx="1554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400" dirty="0">
                <a:solidFill>
                  <a:srgbClr val="000000"/>
                </a:solidFill>
              </a:rPr>
              <a:t>🏫</a:t>
            </a:r>
            <a:endParaRPr lang="en-US" sz="3400" dirty="0"/>
          </a:p>
        </p:txBody>
      </p:sp>
      <p:sp>
        <p:nvSpPr>
          <p:cNvPr id="12" name="Text 10"/>
          <p:cNvSpPr txBox="1"/>
          <p:nvPr/>
        </p:nvSpPr>
        <p:spPr>
          <a:xfrm>
            <a:off x="2148840" y="1691640"/>
            <a:ext cx="1463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A73C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École / Club</a:t>
            </a:r>
            <a:endParaRPr lang="en-US" sz="1300" dirty="0"/>
          </a:p>
        </p:txBody>
      </p:sp>
      <p:sp>
        <p:nvSpPr>
          <p:cNvPr id="13" name="Shape 11"/>
          <p:cNvSpPr/>
          <p:nvPr/>
        </p:nvSpPr>
        <p:spPr>
          <a:xfrm>
            <a:off x="2423160" y="2057400"/>
            <a:ext cx="914400" cy="27432"/>
          </a:xfrm>
          <a:prstGeom prst="rect">
            <a:avLst/>
          </a:prstGeom>
          <a:solidFill>
            <a:srgbClr val="1A73C8"/>
          </a:solidFill>
          <a:ln/>
        </p:spPr>
      </p:sp>
      <p:sp>
        <p:nvSpPr>
          <p:cNvPr id="14" name="Text 12"/>
          <p:cNvSpPr txBox="1"/>
          <p:nvPr/>
        </p:nvSpPr>
        <p:spPr>
          <a:xfrm>
            <a:off x="2194560" y="2148840"/>
            <a:ext cx="1371600" cy="2468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2D374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Gère ses athlètes</a:t>
            </a:r>
            <a:endParaRPr lang="en-US" sz="1050" dirty="0"/>
          </a:p>
          <a:p>
            <a:pPr algn="ctr" indent="0" marL="0">
              <a:buNone/>
            </a:pPr>
            <a:r>
              <a:rPr lang="en-US" sz="1050" dirty="0">
                <a:solidFill>
                  <a:srgbClr val="2D374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Promotion institution</a:t>
            </a:r>
            <a:endParaRPr lang="en-US" sz="1050" dirty="0"/>
          </a:p>
          <a:p>
            <a:pPr algn="ctr" indent="0" marL="0">
              <a:buNone/>
            </a:pPr>
            <a:r>
              <a:rPr lang="en-US" sz="1050" dirty="0">
                <a:solidFill>
                  <a:srgbClr val="2D374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Page officielle</a:t>
            </a:r>
            <a:endParaRPr lang="en-US" sz="1050" dirty="0"/>
          </a:p>
        </p:txBody>
      </p:sp>
      <p:sp>
        <p:nvSpPr>
          <p:cNvPr id="15" name="Shape 13"/>
          <p:cNvSpPr/>
          <p:nvPr/>
        </p:nvSpPr>
        <p:spPr>
          <a:xfrm>
            <a:off x="3840480" y="822960"/>
            <a:ext cx="1554480" cy="3931920"/>
          </a:xfrm>
          <a:prstGeom prst="rect">
            <a:avLst/>
          </a:prstGeom>
          <a:solidFill>
            <a:srgbClr val="FFFBEB"/>
          </a:solidFill>
          <a:ln w="25400">
            <a:solidFill>
              <a:srgbClr val="B45309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3840480" y="914400"/>
            <a:ext cx="1554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400" dirty="0">
                <a:solidFill>
                  <a:srgbClr val="000000"/>
                </a:solidFill>
              </a:rPr>
              <a:t>🔍</a:t>
            </a:r>
            <a:endParaRPr lang="en-US" sz="3400" dirty="0"/>
          </a:p>
        </p:txBody>
      </p:sp>
      <p:sp>
        <p:nvSpPr>
          <p:cNvPr id="17" name="Text 15"/>
          <p:cNvSpPr txBox="1"/>
          <p:nvPr/>
        </p:nvSpPr>
        <p:spPr>
          <a:xfrm>
            <a:off x="3886200" y="1691640"/>
            <a:ext cx="1463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B4530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Recruteur</a:t>
            </a:r>
            <a:endParaRPr lang="en-US" sz="1300" dirty="0"/>
          </a:p>
        </p:txBody>
      </p:sp>
      <p:sp>
        <p:nvSpPr>
          <p:cNvPr id="18" name="Shape 16"/>
          <p:cNvSpPr/>
          <p:nvPr/>
        </p:nvSpPr>
        <p:spPr>
          <a:xfrm>
            <a:off x="4160520" y="2057400"/>
            <a:ext cx="914400" cy="27432"/>
          </a:xfrm>
          <a:prstGeom prst="rect">
            <a:avLst/>
          </a:prstGeom>
          <a:solidFill>
            <a:srgbClr val="B45309"/>
          </a:solidFill>
          <a:ln/>
        </p:spPr>
      </p:sp>
      <p:sp>
        <p:nvSpPr>
          <p:cNvPr id="19" name="Text 17"/>
          <p:cNvSpPr txBox="1"/>
          <p:nvPr/>
        </p:nvSpPr>
        <p:spPr>
          <a:xfrm>
            <a:off x="3931920" y="2148840"/>
            <a:ext cx="1371600" cy="2468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2D374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Recherche talents</a:t>
            </a:r>
            <a:endParaRPr lang="en-US" sz="1050" dirty="0"/>
          </a:p>
          <a:p>
            <a:pPr algn="ctr" indent="0" marL="0">
              <a:buNone/>
            </a:pPr>
            <a:r>
              <a:rPr lang="en-US" sz="1050" dirty="0">
                <a:solidFill>
                  <a:srgbClr val="2D374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Filtres avancés</a:t>
            </a:r>
            <a:endParaRPr lang="en-US" sz="1050" dirty="0"/>
          </a:p>
          <a:p>
            <a:pPr algn="ctr" indent="0" marL="0">
              <a:buNone/>
            </a:pPr>
            <a:r>
              <a:rPr lang="en-US" sz="1050" dirty="0">
                <a:solidFill>
                  <a:srgbClr val="2D374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Contact direct</a:t>
            </a:r>
            <a:endParaRPr lang="en-US" sz="1050" dirty="0"/>
          </a:p>
        </p:txBody>
      </p:sp>
      <p:sp>
        <p:nvSpPr>
          <p:cNvPr id="20" name="Shape 18"/>
          <p:cNvSpPr/>
          <p:nvPr/>
        </p:nvSpPr>
        <p:spPr>
          <a:xfrm>
            <a:off x="5577840" y="822960"/>
            <a:ext cx="1554480" cy="3931920"/>
          </a:xfrm>
          <a:prstGeom prst="rect">
            <a:avLst/>
          </a:prstGeom>
          <a:solidFill>
            <a:srgbClr val="F5F3FF"/>
          </a:solidFill>
          <a:ln w="25400">
            <a:solidFill>
              <a:srgbClr val="7C3AED"/>
            </a:solidFill>
            <a:prstDash val="solid"/>
          </a:ln>
        </p:spPr>
      </p:sp>
      <p:sp>
        <p:nvSpPr>
          <p:cNvPr id="21" name="Text 19"/>
          <p:cNvSpPr txBox="1"/>
          <p:nvPr/>
        </p:nvSpPr>
        <p:spPr>
          <a:xfrm>
            <a:off x="5577840" y="914400"/>
            <a:ext cx="1554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400" dirty="0">
                <a:solidFill>
                  <a:srgbClr val="000000"/>
                </a:solidFill>
              </a:rPr>
              <a:t>💰</a:t>
            </a:r>
            <a:endParaRPr lang="en-US" sz="3400" dirty="0"/>
          </a:p>
        </p:txBody>
      </p:sp>
      <p:sp>
        <p:nvSpPr>
          <p:cNvPr id="22" name="Text 20"/>
          <p:cNvSpPr txBox="1"/>
          <p:nvPr/>
        </p:nvSpPr>
        <p:spPr>
          <a:xfrm>
            <a:off x="5623560" y="1691640"/>
            <a:ext cx="1463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7C3AE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Sponsor</a:t>
            </a:r>
            <a:endParaRPr lang="en-US" sz="1300" dirty="0"/>
          </a:p>
        </p:txBody>
      </p:sp>
      <p:sp>
        <p:nvSpPr>
          <p:cNvPr id="23" name="Shape 21"/>
          <p:cNvSpPr/>
          <p:nvPr/>
        </p:nvSpPr>
        <p:spPr>
          <a:xfrm>
            <a:off x="5897880" y="2057400"/>
            <a:ext cx="914400" cy="27432"/>
          </a:xfrm>
          <a:prstGeom prst="rect">
            <a:avLst/>
          </a:prstGeom>
          <a:solidFill>
            <a:srgbClr val="7C3AED"/>
          </a:solidFill>
          <a:ln/>
        </p:spPr>
      </p:sp>
      <p:sp>
        <p:nvSpPr>
          <p:cNvPr id="24" name="Text 22"/>
          <p:cNvSpPr txBox="1"/>
          <p:nvPr/>
        </p:nvSpPr>
        <p:spPr>
          <a:xfrm>
            <a:off x="5669280" y="2148840"/>
            <a:ext cx="1371600" cy="2468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2D374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Découvre ambassadeurs</a:t>
            </a:r>
            <a:endParaRPr lang="en-US" sz="1050" dirty="0"/>
          </a:p>
          <a:p>
            <a:pPr algn="ctr" indent="0" marL="0">
              <a:buNone/>
            </a:pPr>
            <a:r>
              <a:rPr lang="en-US" sz="1050" dirty="0">
                <a:solidFill>
                  <a:srgbClr val="2D374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Campagnes ciblées</a:t>
            </a:r>
            <a:endParaRPr lang="en-US" sz="1050" dirty="0"/>
          </a:p>
          <a:p>
            <a:pPr algn="ctr" indent="0" marL="0">
              <a:buNone/>
            </a:pPr>
            <a:r>
              <a:rPr lang="en-US" sz="1050" dirty="0">
                <a:solidFill>
                  <a:srgbClr val="2D374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ROI mesurable</a:t>
            </a:r>
            <a:endParaRPr lang="en-US" sz="1050" dirty="0"/>
          </a:p>
        </p:txBody>
      </p:sp>
      <p:sp>
        <p:nvSpPr>
          <p:cNvPr id="25" name="Shape 23"/>
          <p:cNvSpPr/>
          <p:nvPr/>
        </p:nvSpPr>
        <p:spPr>
          <a:xfrm>
            <a:off x="7315200" y="822960"/>
            <a:ext cx="1554480" cy="3931920"/>
          </a:xfrm>
          <a:prstGeom prst="rect">
            <a:avLst/>
          </a:prstGeom>
          <a:solidFill>
            <a:srgbClr val="FDF3DC"/>
          </a:solidFill>
          <a:ln w="25400">
            <a:solidFill>
              <a:srgbClr val="F5A623"/>
            </a:solidFill>
            <a:prstDash val="solid"/>
          </a:ln>
        </p:spPr>
      </p:sp>
      <p:sp>
        <p:nvSpPr>
          <p:cNvPr id="26" name="Text 24"/>
          <p:cNvSpPr txBox="1"/>
          <p:nvPr/>
        </p:nvSpPr>
        <p:spPr>
          <a:xfrm>
            <a:off x="7315200" y="914400"/>
            <a:ext cx="1554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400" dirty="0">
                <a:solidFill>
                  <a:srgbClr val="000000"/>
                </a:solidFill>
              </a:rPr>
              <a:t>⭐</a:t>
            </a:r>
            <a:endParaRPr lang="en-US" sz="3400" dirty="0"/>
          </a:p>
        </p:txBody>
      </p:sp>
      <p:sp>
        <p:nvSpPr>
          <p:cNvPr id="27" name="Text 25"/>
          <p:cNvSpPr txBox="1"/>
          <p:nvPr/>
        </p:nvSpPr>
        <p:spPr>
          <a:xfrm>
            <a:off x="7360920" y="1691640"/>
            <a:ext cx="1463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5A62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Expert</a:t>
            </a:r>
            <a:endParaRPr lang="en-US" sz="1300" dirty="0"/>
          </a:p>
        </p:txBody>
      </p:sp>
      <p:sp>
        <p:nvSpPr>
          <p:cNvPr id="28" name="Shape 26"/>
          <p:cNvSpPr/>
          <p:nvPr/>
        </p:nvSpPr>
        <p:spPr>
          <a:xfrm>
            <a:off x="7635240" y="2057400"/>
            <a:ext cx="914400" cy="27432"/>
          </a:xfrm>
          <a:prstGeom prst="rect">
            <a:avLst/>
          </a:prstGeom>
          <a:solidFill>
            <a:srgbClr val="F5A623"/>
          </a:solidFill>
          <a:ln/>
        </p:spPr>
      </p:sp>
      <p:sp>
        <p:nvSpPr>
          <p:cNvPr id="29" name="Text 27"/>
          <p:cNvSpPr txBox="1"/>
          <p:nvPr/>
        </p:nvSpPr>
        <p:spPr>
          <a:xfrm>
            <a:off x="7406640" y="2148840"/>
            <a:ext cx="1371600" cy="2468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2D374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Note les talents</a:t>
            </a:r>
            <a:endParaRPr lang="en-US" sz="1050" dirty="0"/>
          </a:p>
          <a:p>
            <a:pPr algn="ctr" indent="0" marL="0">
              <a:buNone/>
            </a:pPr>
            <a:r>
              <a:rPr lang="en-US" sz="1050" dirty="0">
                <a:solidFill>
                  <a:srgbClr val="2D374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Talent Score™</a:t>
            </a:r>
            <a:endParaRPr lang="en-US" sz="1050" dirty="0"/>
          </a:p>
          <a:p>
            <a:pPr algn="ctr" indent="0" marL="0">
              <a:buNone/>
            </a:pPr>
            <a:r>
              <a:rPr lang="en-US" sz="1050" dirty="0">
                <a:solidFill>
                  <a:srgbClr val="2D374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Certifié plateforme</a:t>
            </a:r>
            <a:endParaRPr lang="en-US" sz="105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0D1B2A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9144000" cy="685800"/>
          </a:xfrm>
          <a:prstGeom prst="rect">
            <a:avLst/>
          </a:prstGeom>
          <a:solidFill>
            <a:srgbClr val="F5A623"/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365760" y="91440"/>
            <a:ext cx="84124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0D1B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Modèle Économique</a:t>
            </a:r>
            <a:endParaRPr lang="en-US" sz="2200" dirty="0"/>
          </a:p>
        </p:txBody>
      </p:sp>
      <p:sp>
        <p:nvSpPr>
          <p:cNvPr id="5" name="Shape 3"/>
          <p:cNvSpPr/>
          <p:nvPr/>
        </p:nvSpPr>
        <p:spPr>
          <a:xfrm>
            <a:off x="274320" y="822960"/>
            <a:ext cx="4160520" cy="1280160"/>
          </a:xfrm>
          <a:prstGeom prst="rect">
            <a:avLst/>
          </a:prstGeom>
          <a:solidFill>
            <a:srgbClr val="1A2D40"/>
          </a:solidFill>
          <a:ln w="12700">
            <a:solidFill>
              <a:srgbClr val="2D4A6B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411480" y="932688"/>
            <a:ext cx="32004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🏆  Commission Recrutement</a:t>
            </a:r>
            <a:endParaRPr lang="en-US" sz="1300" dirty="0"/>
          </a:p>
        </p:txBody>
      </p:sp>
      <p:sp>
        <p:nvSpPr>
          <p:cNvPr id="7" name="Text 5"/>
          <p:cNvSpPr txBox="1"/>
          <p:nvPr/>
        </p:nvSpPr>
        <p:spPr>
          <a:xfrm>
            <a:off x="411480" y="1325880"/>
            <a:ext cx="32004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A0B4C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5-10% du 1er salaire mensuel sur contrats conclus via DeNoTa</a:t>
            </a:r>
            <a:endParaRPr lang="en-US" sz="1050" dirty="0"/>
          </a:p>
        </p:txBody>
      </p:sp>
      <p:sp>
        <p:nvSpPr>
          <p:cNvPr id="8" name="Shape 6"/>
          <p:cNvSpPr/>
          <p:nvPr/>
        </p:nvSpPr>
        <p:spPr>
          <a:xfrm>
            <a:off x="3703320" y="932688"/>
            <a:ext cx="640080" cy="256032"/>
          </a:xfrm>
          <a:prstGeom prst="rect">
            <a:avLst/>
          </a:prstGeom>
          <a:solidFill>
            <a:srgbClr val="F5A623"/>
          </a:solidFill>
          <a:ln/>
        </p:spPr>
      </p:sp>
      <p:sp>
        <p:nvSpPr>
          <p:cNvPr id="9" name="Text 7"/>
          <p:cNvSpPr txBox="1"/>
          <p:nvPr/>
        </p:nvSpPr>
        <p:spPr>
          <a:xfrm>
            <a:off x="3675888" y="932688"/>
            <a:ext cx="69494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b="1" dirty="0">
                <a:solidFill>
                  <a:srgbClr val="0D1B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PRINCIPAL</a:t>
            </a:r>
            <a:endParaRPr lang="en-US" sz="700" dirty="0"/>
          </a:p>
        </p:txBody>
      </p:sp>
      <p:sp>
        <p:nvSpPr>
          <p:cNvPr id="10" name="Shape 8"/>
          <p:cNvSpPr/>
          <p:nvPr/>
        </p:nvSpPr>
        <p:spPr>
          <a:xfrm>
            <a:off x="4709160" y="822960"/>
            <a:ext cx="4160520" cy="1280160"/>
          </a:xfrm>
          <a:prstGeom prst="rect">
            <a:avLst/>
          </a:prstGeom>
          <a:solidFill>
            <a:srgbClr val="1A2D40"/>
          </a:solidFill>
          <a:ln w="12700">
            <a:solidFill>
              <a:srgbClr val="2D4A6B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4846320" y="932688"/>
            <a:ext cx="32004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📱  Publicité In-App</a:t>
            </a:r>
            <a:endParaRPr lang="en-US" sz="1300" dirty="0"/>
          </a:p>
        </p:txBody>
      </p:sp>
      <p:sp>
        <p:nvSpPr>
          <p:cNvPr id="12" name="Text 10"/>
          <p:cNvSpPr txBox="1"/>
          <p:nvPr/>
        </p:nvSpPr>
        <p:spPr>
          <a:xfrm>
            <a:off x="4846320" y="1325880"/>
            <a:ext cx="32004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A0B4C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Bannières et vidéos sponsorisées ciblées (équipementiers, marques sport)</a:t>
            </a:r>
            <a:endParaRPr lang="en-US" sz="1050" dirty="0"/>
          </a:p>
        </p:txBody>
      </p:sp>
      <p:sp>
        <p:nvSpPr>
          <p:cNvPr id="13" name="Shape 11"/>
          <p:cNvSpPr/>
          <p:nvPr/>
        </p:nvSpPr>
        <p:spPr>
          <a:xfrm>
            <a:off x="8138160" y="932688"/>
            <a:ext cx="640080" cy="256032"/>
          </a:xfrm>
          <a:prstGeom prst="rect">
            <a:avLst/>
          </a:prstGeom>
          <a:solidFill>
            <a:srgbClr val="F5A623"/>
          </a:solidFill>
          <a:ln/>
        </p:spPr>
      </p:sp>
      <p:sp>
        <p:nvSpPr>
          <p:cNvPr id="14" name="Text 12"/>
          <p:cNvSpPr txBox="1"/>
          <p:nvPr/>
        </p:nvSpPr>
        <p:spPr>
          <a:xfrm>
            <a:off x="8110728" y="932688"/>
            <a:ext cx="69494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b="1" dirty="0">
                <a:solidFill>
                  <a:srgbClr val="0D1B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PRINCIPAL</a:t>
            </a:r>
            <a:endParaRPr lang="en-US" sz="700" dirty="0"/>
          </a:p>
        </p:txBody>
      </p:sp>
      <p:sp>
        <p:nvSpPr>
          <p:cNvPr id="15" name="Shape 13"/>
          <p:cNvSpPr/>
          <p:nvPr/>
        </p:nvSpPr>
        <p:spPr>
          <a:xfrm>
            <a:off x="274320" y="2240280"/>
            <a:ext cx="4160520" cy="1280160"/>
          </a:xfrm>
          <a:prstGeom prst="rect">
            <a:avLst/>
          </a:prstGeom>
          <a:solidFill>
            <a:srgbClr val="1A2D40"/>
          </a:solidFill>
          <a:ln w="12700">
            <a:solidFill>
              <a:srgbClr val="2D4A6B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411480" y="2350008"/>
            <a:ext cx="32004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⭐  Premium Sportif</a:t>
            </a:r>
            <a:endParaRPr lang="en-US" sz="1300" dirty="0"/>
          </a:p>
        </p:txBody>
      </p:sp>
      <p:sp>
        <p:nvSpPr>
          <p:cNvPr id="17" name="Text 15"/>
          <p:cNvSpPr txBox="1"/>
          <p:nvPr/>
        </p:nvSpPr>
        <p:spPr>
          <a:xfrm>
            <a:off x="411480" y="2743200"/>
            <a:ext cx="32004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A0B4C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2 000 – 5 000 FCFA/mois · Messagerie, analytics, boost profil</a:t>
            </a:r>
            <a:endParaRPr lang="en-US" sz="1050" dirty="0"/>
          </a:p>
        </p:txBody>
      </p:sp>
      <p:sp>
        <p:nvSpPr>
          <p:cNvPr id="18" name="Shape 16"/>
          <p:cNvSpPr/>
          <p:nvPr/>
        </p:nvSpPr>
        <p:spPr>
          <a:xfrm>
            <a:off x="3703320" y="2350008"/>
            <a:ext cx="640080" cy="256032"/>
          </a:xfrm>
          <a:prstGeom prst="rect">
            <a:avLst/>
          </a:prstGeom>
          <a:solidFill>
            <a:srgbClr val="1B5E3B"/>
          </a:solidFill>
          <a:ln/>
        </p:spPr>
      </p:sp>
      <p:sp>
        <p:nvSpPr>
          <p:cNvPr id="19" name="Text 17"/>
          <p:cNvSpPr txBox="1"/>
          <p:nvPr/>
        </p:nvSpPr>
        <p:spPr>
          <a:xfrm>
            <a:off x="3675888" y="2350008"/>
            <a:ext cx="69494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b="1" dirty="0">
                <a:solidFill>
                  <a:srgbClr val="0D1B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RÉCURRENT</a:t>
            </a:r>
            <a:endParaRPr lang="en-US" sz="700" dirty="0"/>
          </a:p>
        </p:txBody>
      </p:sp>
      <p:sp>
        <p:nvSpPr>
          <p:cNvPr id="20" name="Shape 18"/>
          <p:cNvSpPr/>
          <p:nvPr/>
        </p:nvSpPr>
        <p:spPr>
          <a:xfrm>
            <a:off x="4709160" y="2240280"/>
            <a:ext cx="4160520" cy="1280160"/>
          </a:xfrm>
          <a:prstGeom prst="rect">
            <a:avLst/>
          </a:prstGeom>
          <a:solidFill>
            <a:srgbClr val="1A2D40"/>
          </a:solidFill>
          <a:ln w="12700">
            <a:solidFill>
              <a:srgbClr val="2D4A6B"/>
            </a:solidFill>
            <a:prstDash val="solid"/>
          </a:ln>
        </p:spPr>
      </p:sp>
      <p:sp>
        <p:nvSpPr>
          <p:cNvPr id="21" name="Text 19"/>
          <p:cNvSpPr txBox="1"/>
          <p:nvPr/>
        </p:nvSpPr>
        <p:spPr>
          <a:xfrm>
            <a:off x="4846320" y="2350008"/>
            <a:ext cx="32004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🏫  Abonnement Institution</a:t>
            </a:r>
            <a:endParaRPr lang="en-US" sz="1300" dirty="0"/>
          </a:p>
        </p:txBody>
      </p:sp>
      <p:sp>
        <p:nvSpPr>
          <p:cNvPr id="22" name="Text 20"/>
          <p:cNvSpPr txBox="1"/>
          <p:nvPr/>
        </p:nvSpPr>
        <p:spPr>
          <a:xfrm>
            <a:off x="4846320" y="2743200"/>
            <a:ext cx="32004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A0B4C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15 000 – 40 000 FCFA/mois · Gestion multi-athlètes</a:t>
            </a:r>
            <a:endParaRPr lang="en-US" sz="1050" dirty="0"/>
          </a:p>
        </p:txBody>
      </p:sp>
      <p:sp>
        <p:nvSpPr>
          <p:cNvPr id="23" name="Shape 21"/>
          <p:cNvSpPr/>
          <p:nvPr/>
        </p:nvSpPr>
        <p:spPr>
          <a:xfrm>
            <a:off x="8138160" y="2350008"/>
            <a:ext cx="640080" cy="256032"/>
          </a:xfrm>
          <a:prstGeom prst="rect">
            <a:avLst/>
          </a:prstGeom>
          <a:solidFill>
            <a:srgbClr val="1B5E3B"/>
          </a:solidFill>
          <a:ln/>
        </p:spPr>
      </p:sp>
      <p:sp>
        <p:nvSpPr>
          <p:cNvPr id="24" name="Text 22"/>
          <p:cNvSpPr txBox="1"/>
          <p:nvPr/>
        </p:nvSpPr>
        <p:spPr>
          <a:xfrm>
            <a:off x="8110728" y="2350008"/>
            <a:ext cx="69494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b="1" dirty="0">
                <a:solidFill>
                  <a:srgbClr val="0D1B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RÉCURRENT</a:t>
            </a:r>
            <a:endParaRPr lang="en-US" sz="700" dirty="0"/>
          </a:p>
        </p:txBody>
      </p:sp>
      <p:sp>
        <p:nvSpPr>
          <p:cNvPr id="25" name="Shape 23"/>
          <p:cNvSpPr/>
          <p:nvPr/>
        </p:nvSpPr>
        <p:spPr>
          <a:xfrm>
            <a:off x="274320" y="3657600"/>
            <a:ext cx="4160520" cy="1280160"/>
          </a:xfrm>
          <a:prstGeom prst="rect">
            <a:avLst/>
          </a:prstGeom>
          <a:solidFill>
            <a:srgbClr val="1A2D40"/>
          </a:solidFill>
          <a:ln w="12700">
            <a:solidFill>
              <a:srgbClr val="2D4A6B"/>
            </a:solidFill>
            <a:prstDash val="solid"/>
          </a:ln>
        </p:spPr>
      </p:sp>
      <p:sp>
        <p:nvSpPr>
          <p:cNvPr id="26" name="Text 24"/>
          <p:cNvSpPr txBox="1"/>
          <p:nvPr/>
        </p:nvSpPr>
        <p:spPr>
          <a:xfrm>
            <a:off x="411480" y="3767328"/>
            <a:ext cx="32004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🔍  Recruteur Pro</a:t>
            </a:r>
            <a:endParaRPr lang="en-US" sz="1300" dirty="0"/>
          </a:p>
        </p:txBody>
      </p:sp>
      <p:sp>
        <p:nvSpPr>
          <p:cNvPr id="27" name="Text 25"/>
          <p:cNvSpPr txBox="1"/>
          <p:nvPr/>
        </p:nvSpPr>
        <p:spPr>
          <a:xfrm>
            <a:off x="411480" y="4160520"/>
            <a:ext cx="32004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A0B4C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25 000 FCFA/mois · Accès illimité, alertes, PDF scouting</a:t>
            </a:r>
            <a:endParaRPr lang="en-US" sz="1050" dirty="0"/>
          </a:p>
        </p:txBody>
      </p:sp>
      <p:sp>
        <p:nvSpPr>
          <p:cNvPr id="28" name="Shape 26"/>
          <p:cNvSpPr/>
          <p:nvPr/>
        </p:nvSpPr>
        <p:spPr>
          <a:xfrm>
            <a:off x="3703320" y="3767328"/>
            <a:ext cx="640080" cy="256032"/>
          </a:xfrm>
          <a:prstGeom prst="rect">
            <a:avLst/>
          </a:prstGeom>
          <a:solidFill>
            <a:srgbClr val="1B5E3B"/>
          </a:solidFill>
          <a:ln/>
        </p:spPr>
      </p:sp>
      <p:sp>
        <p:nvSpPr>
          <p:cNvPr id="29" name="Text 27"/>
          <p:cNvSpPr txBox="1"/>
          <p:nvPr/>
        </p:nvSpPr>
        <p:spPr>
          <a:xfrm>
            <a:off x="3675888" y="3767328"/>
            <a:ext cx="69494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b="1" dirty="0">
                <a:solidFill>
                  <a:srgbClr val="0D1B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RÉCURRENT</a:t>
            </a:r>
            <a:endParaRPr lang="en-US" sz="700" dirty="0"/>
          </a:p>
        </p:txBody>
      </p:sp>
      <p:sp>
        <p:nvSpPr>
          <p:cNvPr id="30" name="Shape 28"/>
          <p:cNvSpPr/>
          <p:nvPr/>
        </p:nvSpPr>
        <p:spPr>
          <a:xfrm>
            <a:off x="4709160" y="3657600"/>
            <a:ext cx="4160520" cy="1280160"/>
          </a:xfrm>
          <a:prstGeom prst="rect">
            <a:avLst/>
          </a:prstGeom>
          <a:solidFill>
            <a:srgbClr val="1A2D40"/>
          </a:solidFill>
          <a:ln w="12700">
            <a:solidFill>
              <a:srgbClr val="2D4A6B"/>
            </a:solidFill>
            <a:prstDash val="solid"/>
          </a:ln>
        </p:spPr>
      </p:sp>
      <p:sp>
        <p:nvSpPr>
          <p:cNvPr id="31" name="Text 29"/>
          <p:cNvSpPr txBox="1"/>
          <p:nvPr/>
        </p:nvSpPr>
        <p:spPr>
          <a:xfrm>
            <a:off x="4846320" y="3767328"/>
            <a:ext cx="32004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🚀  Profil Boosté</a:t>
            </a:r>
            <a:endParaRPr lang="en-US" sz="1300" dirty="0"/>
          </a:p>
        </p:txBody>
      </p:sp>
      <p:sp>
        <p:nvSpPr>
          <p:cNvPr id="32" name="Text 30"/>
          <p:cNvSpPr txBox="1"/>
          <p:nvPr/>
        </p:nvSpPr>
        <p:spPr>
          <a:xfrm>
            <a:off x="4846320" y="4160520"/>
            <a:ext cx="32004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A0B4C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Mise en avant ponctuelle dans les résultats de recherche</a:t>
            </a:r>
            <a:endParaRPr lang="en-US" sz="1050" dirty="0"/>
          </a:p>
        </p:txBody>
      </p:sp>
      <p:sp>
        <p:nvSpPr>
          <p:cNvPr id="33" name="Shape 31"/>
          <p:cNvSpPr/>
          <p:nvPr/>
        </p:nvSpPr>
        <p:spPr>
          <a:xfrm>
            <a:off x="8138160" y="3767328"/>
            <a:ext cx="640080" cy="256032"/>
          </a:xfrm>
          <a:prstGeom prst="rect">
            <a:avLst/>
          </a:prstGeom>
          <a:solidFill>
            <a:srgbClr val="1A73C8"/>
          </a:solidFill>
          <a:ln/>
        </p:spPr>
      </p:sp>
      <p:sp>
        <p:nvSpPr>
          <p:cNvPr id="34" name="Text 32"/>
          <p:cNvSpPr txBox="1"/>
          <p:nvPr/>
        </p:nvSpPr>
        <p:spPr>
          <a:xfrm>
            <a:off x="8110728" y="3767328"/>
            <a:ext cx="69494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b="1" dirty="0">
                <a:solidFill>
                  <a:srgbClr val="0D1B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PONCTUEL</a:t>
            </a:r>
            <a:endParaRPr lang="en-US" sz="7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9144000" cy="685800"/>
          </a:xfrm>
          <a:prstGeom prst="rect">
            <a:avLst/>
          </a:prstGeom>
          <a:solidFill>
            <a:srgbClr val="1B5E3B"/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365760" y="91440"/>
            <a:ext cx="84124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Stack Technique</a:t>
            </a:r>
            <a:endParaRPr lang="en-US" sz="2200" dirty="0"/>
          </a:p>
        </p:txBody>
      </p:sp>
      <p:sp>
        <p:nvSpPr>
          <p:cNvPr id="5" name="Shape 3"/>
          <p:cNvSpPr/>
          <p:nvPr/>
        </p:nvSpPr>
        <p:spPr>
          <a:xfrm>
            <a:off x="274320" y="822960"/>
            <a:ext cx="1993392" cy="1828800"/>
          </a:xfrm>
          <a:prstGeom prst="rect">
            <a:avLst/>
          </a:prstGeom>
          <a:solidFill>
            <a:srgbClr val="F4F6F8"/>
          </a:solidFill>
          <a:ln w="12700">
            <a:solidFill>
              <a:srgbClr val="D0D7DE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274320" y="822960"/>
            <a:ext cx="1993392" cy="91440"/>
          </a:xfrm>
          <a:prstGeom prst="rect">
            <a:avLst/>
          </a:prstGeom>
          <a:solidFill>
            <a:srgbClr val="1A73C8"/>
          </a:solidFill>
          <a:ln/>
        </p:spPr>
      </p:sp>
      <p:sp>
        <p:nvSpPr>
          <p:cNvPr id="7" name="Text 5"/>
          <p:cNvSpPr txBox="1"/>
          <p:nvPr/>
        </p:nvSpPr>
        <p:spPr>
          <a:xfrm>
            <a:off x="365760" y="1005840"/>
            <a:ext cx="18288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A73C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📱 Mobile</a:t>
            </a:r>
            <a:endParaRPr lang="en-US" sz="1200" dirty="0"/>
          </a:p>
        </p:txBody>
      </p:sp>
      <p:sp>
        <p:nvSpPr>
          <p:cNvPr id="8" name="Text 6"/>
          <p:cNvSpPr txBox="1"/>
          <p:nvPr/>
        </p:nvSpPr>
        <p:spPr>
          <a:xfrm>
            <a:off x="365760" y="1463040"/>
            <a:ext cx="182880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D374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Flutter 3.x · Dart · BLoC</a:t>
            </a:r>
            <a:endParaRPr lang="en-US" sz="1100" dirty="0"/>
          </a:p>
        </p:txBody>
      </p:sp>
      <p:sp>
        <p:nvSpPr>
          <p:cNvPr id="9" name="Shape 7"/>
          <p:cNvSpPr/>
          <p:nvPr/>
        </p:nvSpPr>
        <p:spPr>
          <a:xfrm>
            <a:off x="2450592" y="822960"/>
            <a:ext cx="1993392" cy="1828800"/>
          </a:xfrm>
          <a:prstGeom prst="rect">
            <a:avLst/>
          </a:prstGeom>
          <a:solidFill>
            <a:srgbClr val="F4F6F8"/>
          </a:solidFill>
          <a:ln w="12700">
            <a:solidFill>
              <a:srgbClr val="D0D7DE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2450592" y="822960"/>
            <a:ext cx="1993392" cy="91440"/>
          </a:xfrm>
          <a:prstGeom prst="rect">
            <a:avLst/>
          </a:prstGeom>
          <a:solidFill>
            <a:srgbClr val="1B5E3B"/>
          </a:solidFill>
          <a:ln/>
        </p:spPr>
      </p:sp>
      <p:sp>
        <p:nvSpPr>
          <p:cNvPr id="11" name="Text 9"/>
          <p:cNvSpPr txBox="1"/>
          <p:nvPr/>
        </p:nvSpPr>
        <p:spPr>
          <a:xfrm>
            <a:off x="2542032" y="1005840"/>
            <a:ext cx="18288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B5E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🌐 Web Vitrine</a:t>
            </a:r>
            <a:endParaRPr lang="en-US" sz="1200" dirty="0"/>
          </a:p>
        </p:txBody>
      </p:sp>
      <p:sp>
        <p:nvSpPr>
          <p:cNvPr id="12" name="Text 10"/>
          <p:cNvSpPr txBox="1"/>
          <p:nvPr/>
        </p:nvSpPr>
        <p:spPr>
          <a:xfrm>
            <a:off x="2542032" y="1463040"/>
            <a:ext cx="182880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D374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HTML5 · CSS3 · JavaScript</a:t>
            </a:r>
            <a:endParaRPr lang="en-US" sz="1100" dirty="0"/>
          </a:p>
        </p:txBody>
      </p:sp>
      <p:sp>
        <p:nvSpPr>
          <p:cNvPr id="13" name="Shape 11"/>
          <p:cNvSpPr/>
          <p:nvPr/>
        </p:nvSpPr>
        <p:spPr>
          <a:xfrm>
            <a:off x="4626864" y="822960"/>
            <a:ext cx="1993392" cy="1828800"/>
          </a:xfrm>
          <a:prstGeom prst="rect">
            <a:avLst/>
          </a:prstGeom>
          <a:solidFill>
            <a:srgbClr val="F4F6F8"/>
          </a:solidFill>
          <a:ln w="12700">
            <a:solidFill>
              <a:srgbClr val="D0D7DE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4626864" y="822960"/>
            <a:ext cx="1993392" cy="91440"/>
          </a:xfrm>
          <a:prstGeom prst="rect">
            <a:avLst/>
          </a:prstGeom>
          <a:solidFill>
            <a:srgbClr val="F5A623"/>
          </a:solidFill>
          <a:ln/>
        </p:spPr>
      </p:sp>
      <p:sp>
        <p:nvSpPr>
          <p:cNvPr id="15" name="Text 13"/>
          <p:cNvSpPr txBox="1"/>
          <p:nvPr/>
        </p:nvSpPr>
        <p:spPr>
          <a:xfrm>
            <a:off x="4718304" y="1005840"/>
            <a:ext cx="18288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5A62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⚙️ Backend</a:t>
            </a:r>
            <a:endParaRPr lang="en-US" sz="1200" dirty="0"/>
          </a:p>
        </p:txBody>
      </p:sp>
      <p:sp>
        <p:nvSpPr>
          <p:cNvPr id="16" name="Text 14"/>
          <p:cNvSpPr txBox="1"/>
          <p:nvPr/>
        </p:nvSpPr>
        <p:spPr>
          <a:xfrm>
            <a:off x="4718304" y="1463040"/>
            <a:ext cx="182880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D374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Supabase · PostgreSQL · RLS</a:t>
            </a:r>
            <a:endParaRPr lang="en-US" sz="1100" dirty="0"/>
          </a:p>
        </p:txBody>
      </p:sp>
      <p:sp>
        <p:nvSpPr>
          <p:cNvPr id="17" name="Shape 15"/>
          <p:cNvSpPr/>
          <p:nvPr/>
        </p:nvSpPr>
        <p:spPr>
          <a:xfrm>
            <a:off x="6803136" y="822960"/>
            <a:ext cx="1993392" cy="1828800"/>
          </a:xfrm>
          <a:prstGeom prst="rect">
            <a:avLst/>
          </a:prstGeom>
          <a:solidFill>
            <a:srgbClr val="F4F6F8"/>
          </a:solidFill>
          <a:ln w="12700">
            <a:solidFill>
              <a:srgbClr val="D0D7DE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6803136" y="822960"/>
            <a:ext cx="1993392" cy="91440"/>
          </a:xfrm>
          <a:prstGeom prst="rect">
            <a:avLst/>
          </a:prstGeom>
          <a:solidFill>
            <a:srgbClr val="7C3AED"/>
          </a:solidFill>
          <a:ln/>
        </p:spPr>
      </p:sp>
      <p:sp>
        <p:nvSpPr>
          <p:cNvPr id="19" name="Text 17"/>
          <p:cNvSpPr txBox="1"/>
          <p:nvPr/>
        </p:nvSpPr>
        <p:spPr>
          <a:xfrm>
            <a:off x="6894576" y="1005840"/>
            <a:ext cx="18288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7C3AE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🔐 Auth &amp; KYC</a:t>
            </a:r>
            <a:endParaRPr lang="en-US" sz="1200" dirty="0"/>
          </a:p>
        </p:txBody>
      </p:sp>
      <p:sp>
        <p:nvSpPr>
          <p:cNvPr id="20" name="Text 18"/>
          <p:cNvSpPr txBox="1"/>
          <p:nvPr/>
        </p:nvSpPr>
        <p:spPr>
          <a:xfrm>
            <a:off x="6894576" y="1463040"/>
            <a:ext cx="182880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D374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Supabase Auth · PKCE · OTP SMS</a:t>
            </a:r>
            <a:endParaRPr lang="en-US" sz="1100" dirty="0"/>
          </a:p>
        </p:txBody>
      </p:sp>
      <p:sp>
        <p:nvSpPr>
          <p:cNvPr id="21" name="Shape 19"/>
          <p:cNvSpPr/>
          <p:nvPr/>
        </p:nvSpPr>
        <p:spPr>
          <a:xfrm>
            <a:off x="274320" y="2834640"/>
            <a:ext cx="1993392" cy="1828800"/>
          </a:xfrm>
          <a:prstGeom prst="rect">
            <a:avLst/>
          </a:prstGeom>
          <a:solidFill>
            <a:srgbClr val="F4F6F8"/>
          </a:solidFill>
          <a:ln w="12700">
            <a:solidFill>
              <a:srgbClr val="D0D7DE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274320" y="2834640"/>
            <a:ext cx="1993392" cy="91440"/>
          </a:xfrm>
          <a:prstGeom prst="rect">
            <a:avLst/>
          </a:prstGeom>
          <a:solidFill>
            <a:srgbClr val="DC2626"/>
          </a:solidFill>
          <a:ln/>
        </p:spPr>
      </p:sp>
      <p:sp>
        <p:nvSpPr>
          <p:cNvPr id="23" name="Text 21"/>
          <p:cNvSpPr txBox="1"/>
          <p:nvPr/>
        </p:nvSpPr>
        <p:spPr>
          <a:xfrm>
            <a:off x="365760" y="3017520"/>
            <a:ext cx="18288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DC262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🎬 Stockage Vidéo</a:t>
            </a:r>
            <a:endParaRPr lang="en-US" sz="1200" dirty="0"/>
          </a:p>
        </p:txBody>
      </p:sp>
      <p:sp>
        <p:nvSpPr>
          <p:cNvPr id="24" name="Text 22"/>
          <p:cNvSpPr txBox="1"/>
          <p:nvPr/>
        </p:nvSpPr>
        <p:spPr>
          <a:xfrm>
            <a:off x="365760" y="3474720"/>
            <a:ext cx="182880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D374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Supabase Storage · Cloudflare CDN</a:t>
            </a:r>
            <a:endParaRPr lang="en-US" sz="1100" dirty="0"/>
          </a:p>
        </p:txBody>
      </p:sp>
      <p:sp>
        <p:nvSpPr>
          <p:cNvPr id="25" name="Shape 23"/>
          <p:cNvSpPr/>
          <p:nvPr/>
        </p:nvSpPr>
        <p:spPr>
          <a:xfrm>
            <a:off x="2450592" y="2834640"/>
            <a:ext cx="1993392" cy="1828800"/>
          </a:xfrm>
          <a:prstGeom prst="rect">
            <a:avLst/>
          </a:prstGeom>
          <a:solidFill>
            <a:srgbClr val="F4F6F8"/>
          </a:solidFill>
          <a:ln w="12700">
            <a:solidFill>
              <a:srgbClr val="D0D7DE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2450592" y="2834640"/>
            <a:ext cx="1993392" cy="91440"/>
          </a:xfrm>
          <a:prstGeom prst="rect">
            <a:avLst/>
          </a:prstGeom>
          <a:solidFill>
            <a:srgbClr val="B45309"/>
          </a:solidFill>
          <a:ln/>
        </p:spPr>
      </p:sp>
      <p:sp>
        <p:nvSpPr>
          <p:cNvPr id="27" name="Text 25"/>
          <p:cNvSpPr txBox="1"/>
          <p:nvPr/>
        </p:nvSpPr>
        <p:spPr>
          <a:xfrm>
            <a:off x="2542032" y="3017520"/>
            <a:ext cx="18288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B4530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🤖 IA &amp; Analyse</a:t>
            </a:r>
            <a:endParaRPr lang="en-US" sz="1200" dirty="0"/>
          </a:p>
        </p:txBody>
      </p:sp>
      <p:sp>
        <p:nvSpPr>
          <p:cNvPr id="28" name="Text 26"/>
          <p:cNvSpPr txBox="1"/>
          <p:nvPr/>
        </p:nvSpPr>
        <p:spPr>
          <a:xfrm>
            <a:off x="2542032" y="3474720"/>
            <a:ext cx="182880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D374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Python · MediaPipe · TensorFlow</a:t>
            </a:r>
            <a:endParaRPr lang="en-US" sz="1100" dirty="0"/>
          </a:p>
        </p:txBody>
      </p:sp>
      <p:sp>
        <p:nvSpPr>
          <p:cNvPr id="29" name="Shape 27"/>
          <p:cNvSpPr/>
          <p:nvPr/>
        </p:nvSpPr>
        <p:spPr>
          <a:xfrm>
            <a:off x="4626864" y="2834640"/>
            <a:ext cx="1993392" cy="1828800"/>
          </a:xfrm>
          <a:prstGeom prst="rect">
            <a:avLst/>
          </a:prstGeom>
          <a:solidFill>
            <a:srgbClr val="F4F6F8"/>
          </a:solidFill>
          <a:ln w="12700">
            <a:solidFill>
              <a:srgbClr val="D0D7DE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4626864" y="2834640"/>
            <a:ext cx="1993392" cy="91440"/>
          </a:xfrm>
          <a:prstGeom prst="rect">
            <a:avLst/>
          </a:prstGeom>
          <a:solidFill>
            <a:srgbClr val="EA580C"/>
          </a:solidFill>
          <a:ln/>
        </p:spPr>
      </p:sp>
      <p:sp>
        <p:nvSpPr>
          <p:cNvPr id="31" name="Text 29"/>
          <p:cNvSpPr txBox="1"/>
          <p:nvPr/>
        </p:nvSpPr>
        <p:spPr>
          <a:xfrm>
            <a:off x="4718304" y="3017520"/>
            <a:ext cx="18288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EA580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🔔 Notifications</a:t>
            </a:r>
            <a:endParaRPr lang="en-US" sz="1200" dirty="0"/>
          </a:p>
        </p:txBody>
      </p:sp>
      <p:sp>
        <p:nvSpPr>
          <p:cNvPr id="32" name="Text 30"/>
          <p:cNvSpPr txBox="1"/>
          <p:nvPr/>
        </p:nvSpPr>
        <p:spPr>
          <a:xfrm>
            <a:off x="4718304" y="3474720"/>
            <a:ext cx="182880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D374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Firebase FCM · Push iOS &amp; Android</a:t>
            </a:r>
            <a:endParaRPr lang="en-US" sz="1100" dirty="0"/>
          </a:p>
        </p:txBody>
      </p:sp>
      <p:sp>
        <p:nvSpPr>
          <p:cNvPr id="33" name="Shape 31"/>
          <p:cNvSpPr/>
          <p:nvPr/>
        </p:nvSpPr>
        <p:spPr>
          <a:xfrm>
            <a:off x="6803136" y="2834640"/>
            <a:ext cx="1993392" cy="1828800"/>
          </a:xfrm>
          <a:prstGeom prst="rect">
            <a:avLst/>
          </a:prstGeom>
          <a:solidFill>
            <a:srgbClr val="F4F6F8"/>
          </a:solidFill>
          <a:ln w="12700">
            <a:solidFill>
              <a:srgbClr val="D0D7DE"/>
            </a:solidFill>
            <a:prstDash val="solid"/>
          </a:ln>
        </p:spPr>
      </p:sp>
      <p:sp>
        <p:nvSpPr>
          <p:cNvPr id="34" name="Shape 32"/>
          <p:cNvSpPr/>
          <p:nvPr/>
        </p:nvSpPr>
        <p:spPr>
          <a:xfrm>
            <a:off x="6803136" y="2834640"/>
            <a:ext cx="1993392" cy="91440"/>
          </a:xfrm>
          <a:prstGeom prst="rect">
            <a:avLst/>
          </a:prstGeom>
          <a:solidFill>
            <a:srgbClr val="267F50"/>
          </a:solidFill>
          <a:ln/>
        </p:spPr>
      </p:sp>
      <p:sp>
        <p:nvSpPr>
          <p:cNvPr id="35" name="Text 33"/>
          <p:cNvSpPr txBox="1"/>
          <p:nvPr/>
        </p:nvSpPr>
        <p:spPr>
          <a:xfrm>
            <a:off x="6894576" y="3017520"/>
            <a:ext cx="18288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267F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💳 Paiement</a:t>
            </a:r>
            <a:endParaRPr lang="en-US" sz="1200" dirty="0"/>
          </a:p>
        </p:txBody>
      </p:sp>
      <p:sp>
        <p:nvSpPr>
          <p:cNvPr id="36" name="Text 34"/>
          <p:cNvSpPr txBox="1"/>
          <p:nvPr/>
        </p:nvSpPr>
        <p:spPr>
          <a:xfrm>
            <a:off x="6894576" y="3474720"/>
            <a:ext cx="182880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D374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Wave · CinetPay · Orange Money</a:t>
            </a:r>
            <a:endParaRPr lang="en-US" sz="11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9144000" cy="685800"/>
          </a:xfrm>
          <a:prstGeom prst="rect">
            <a:avLst/>
          </a:prstGeom>
          <a:solidFill>
            <a:srgbClr val="0D1B2A"/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365760" y="91440"/>
            <a:ext cx="84124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Roadmap de Développement</a:t>
            </a:r>
            <a:endParaRPr lang="en-US" sz="2200" dirty="0"/>
          </a:p>
        </p:txBody>
      </p:sp>
      <p:sp>
        <p:nvSpPr>
          <p:cNvPr id="5" name="Shape 3"/>
          <p:cNvSpPr/>
          <p:nvPr/>
        </p:nvSpPr>
        <p:spPr>
          <a:xfrm>
            <a:off x="457200" y="2468880"/>
            <a:ext cx="8229600" cy="73152"/>
          </a:xfrm>
          <a:prstGeom prst="rect">
            <a:avLst/>
          </a:prstGeom>
          <a:solidFill>
            <a:srgbClr val="D0D7DE"/>
          </a:solidFill>
          <a:ln/>
        </p:spPr>
      </p:sp>
      <p:sp>
        <p:nvSpPr>
          <p:cNvPr id="6" name="Shape 4"/>
          <p:cNvSpPr/>
          <p:nvPr/>
        </p:nvSpPr>
        <p:spPr>
          <a:xfrm>
            <a:off x="1143000" y="2377440"/>
            <a:ext cx="237744" cy="237744"/>
          </a:xfrm>
          <a:prstGeom prst="ellipse">
            <a:avLst/>
          </a:prstGeom>
          <a:solidFill>
            <a:srgbClr val="F5A623"/>
          </a:solidFill>
          <a:ln/>
        </p:spPr>
      </p:sp>
      <p:sp>
        <p:nvSpPr>
          <p:cNvPr id="7" name="Shape 5"/>
          <p:cNvSpPr/>
          <p:nvPr/>
        </p:nvSpPr>
        <p:spPr>
          <a:xfrm>
            <a:off x="731520" y="822960"/>
            <a:ext cx="1554480" cy="1463040"/>
          </a:xfrm>
          <a:prstGeom prst="rect">
            <a:avLst/>
          </a:prstGeom>
          <a:solidFill>
            <a:srgbClr val="F4F6F8"/>
          </a:solidFill>
          <a:ln w="19050">
            <a:solidFill>
              <a:srgbClr val="F5A623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777240" y="868680"/>
            <a:ext cx="1463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5A62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Phase 0</a:t>
            </a:r>
            <a:endParaRPr lang="en-US" sz="1100" dirty="0"/>
          </a:p>
        </p:txBody>
      </p:sp>
      <p:sp>
        <p:nvSpPr>
          <p:cNvPr id="9" name="Text 7"/>
          <p:cNvSpPr txBox="1"/>
          <p:nvPr/>
        </p:nvSpPr>
        <p:spPr>
          <a:xfrm>
            <a:off x="777240" y="1143000"/>
            <a:ext cx="14630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2D374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Discovery</a:t>
            </a:r>
            <a:endParaRPr lang="en-US" sz="1200" dirty="0"/>
          </a:p>
        </p:txBody>
      </p:sp>
      <p:sp>
        <p:nvSpPr>
          <p:cNvPr id="10" name="Text 8"/>
          <p:cNvSpPr txBox="1"/>
          <p:nvPr/>
        </p:nvSpPr>
        <p:spPr>
          <a:xfrm>
            <a:off x="777240" y="1417320"/>
            <a:ext cx="14630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F5A62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 sem.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731520" y="2697480"/>
            <a:ext cx="1554480" cy="1600200"/>
          </a:xfrm>
          <a:prstGeom prst="rect">
            <a:avLst/>
          </a:prstGeom>
          <a:solidFill>
            <a:srgbClr val="F4F6F8"/>
          </a:solidFill>
          <a:ln w="12700">
            <a:solidFill>
              <a:srgbClr val="D0D7DE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822960" y="2788920"/>
            <a:ext cx="1371600" cy="1417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2D374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Maquettes Figma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2D374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Architecture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2D374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Contracts équipe</a:t>
            </a:r>
            <a:endParaRPr lang="en-US" sz="1000" dirty="0"/>
          </a:p>
        </p:txBody>
      </p:sp>
      <p:sp>
        <p:nvSpPr>
          <p:cNvPr id="13" name="Shape 11"/>
          <p:cNvSpPr/>
          <p:nvPr/>
        </p:nvSpPr>
        <p:spPr>
          <a:xfrm>
            <a:off x="2971800" y="2377440"/>
            <a:ext cx="237744" cy="237744"/>
          </a:xfrm>
          <a:prstGeom prst="ellipse">
            <a:avLst/>
          </a:prstGeom>
          <a:solidFill>
            <a:srgbClr val="1B5E3B"/>
          </a:solidFill>
          <a:ln/>
        </p:spPr>
      </p:sp>
      <p:sp>
        <p:nvSpPr>
          <p:cNvPr id="14" name="Shape 12"/>
          <p:cNvSpPr/>
          <p:nvPr/>
        </p:nvSpPr>
        <p:spPr>
          <a:xfrm>
            <a:off x="2560320" y="822960"/>
            <a:ext cx="1554480" cy="1463040"/>
          </a:xfrm>
          <a:prstGeom prst="rect">
            <a:avLst/>
          </a:prstGeom>
          <a:solidFill>
            <a:srgbClr val="F4F6F8"/>
          </a:solidFill>
          <a:ln w="19050">
            <a:solidFill>
              <a:srgbClr val="1B5E3B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2606040" y="868680"/>
            <a:ext cx="1463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B5E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Phase 1</a:t>
            </a:r>
            <a:endParaRPr lang="en-US" sz="1100" dirty="0"/>
          </a:p>
        </p:txBody>
      </p:sp>
      <p:sp>
        <p:nvSpPr>
          <p:cNvPr id="16" name="Text 14"/>
          <p:cNvSpPr txBox="1"/>
          <p:nvPr/>
        </p:nvSpPr>
        <p:spPr>
          <a:xfrm>
            <a:off x="2606040" y="1143000"/>
            <a:ext cx="14630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2D374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MVP LEAN</a:t>
            </a:r>
            <a:endParaRPr lang="en-US" sz="1200" dirty="0"/>
          </a:p>
        </p:txBody>
      </p:sp>
      <p:sp>
        <p:nvSpPr>
          <p:cNvPr id="17" name="Text 15"/>
          <p:cNvSpPr txBox="1"/>
          <p:nvPr/>
        </p:nvSpPr>
        <p:spPr>
          <a:xfrm>
            <a:off x="2606040" y="1417320"/>
            <a:ext cx="14630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1B5E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 mois</a:t>
            </a:r>
            <a:endParaRPr lang="en-US" sz="1000" dirty="0"/>
          </a:p>
        </p:txBody>
      </p:sp>
      <p:sp>
        <p:nvSpPr>
          <p:cNvPr id="18" name="Shape 16"/>
          <p:cNvSpPr/>
          <p:nvPr/>
        </p:nvSpPr>
        <p:spPr>
          <a:xfrm>
            <a:off x="2560320" y="2697480"/>
            <a:ext cx="1554480" cy="1600200"/>
          </a:xfrm>
          <a:prstGeom prst="rect">
            <a:avLst/>
          </a:prstGeom>
          <a:solidFill>
            <a:srgbClr val="F4F6F8"/>
          </a:solidFill>
          <a:ln w="12700">
            <a:solidFill>
              <a:srgbClr val="D0D7DE"/>
            </a:solidFill>
            <a:prstDash val="solid"/>
          </a:ln>
        </p:spPr>
      </p:sp>
      <p:sp>
        <p:nvSpPr>
          <p:cNvPr id="19" name="Text 17"/>
          <p:cNvSpPr txBox="1"/>
          <p:nvPr/>
        </p:nvSpPr>
        <p:spPr>
          <a:xfrm>
            <a:off x="2651760" y="2788920"/>
            <a:ext cx="1371600" cy="1417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2D374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App Flutter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2D374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Auth + Profils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2D374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Upload vidéo</a:t>
            </a:r>
            <a:endParaRPr lang="en-US" sz="1000" dirty="0"/>
          </a:p>
        </p:txBody>
      </p:sp>
      <p:sp>
        <p:nvSpPr>
          <p:cNvPr id="20" name="Shape 18"/>
          <p:cNvSpPr/>
          <p:nvPr/>
        </p:nvSpPr>
        <p:spPr>
          <a:xfrm>
            <a:off x="4800600" y="2377440"/>
            <a:ext cx="237744" cy="237744"/>
          </a:xfrm>
          <a:prstGeom prst="ellipse">
            <a:avLst/>
          </a:prstGeom>
          <a:solidFill>
            <a:srgbClr val="1A73C8"/>
          </a:solidFill>
          <a:ln/>
        </p:spPr>
      </p:sp>
      <p:sp>
        <p:nvSpPr>
          <p:cNvPr id="21" name="Shape 19"/>
          <p:cNvSpPr/>
          <p:nvPr/>
        </p:nvSpPr>
        <p:spPr>
          <a:xfrm>
            <a:off x="4389120" y="822960"/>
            <a:ext cx="1554480" cy="1463040"/>
          </a:xfrm>
          <a:prstGeom prst="rect">
            <a:avLst/>
          </a:prstGeom>
          <a:solidFill>
            <a:srgbClr val="F4F6F8"/>
          </a:solidFill>
          <a:ln w="19050">
            <a:solidFill>
              <a:srgbClr val="1A73C8"/>
            </a:solidFill>
            <a:prstDash val="solid"/>
          </a:ln>
        </p:spPr>
      </p:sp>
      <p:sp>
        <p:nvSpPr>
          <p:cNvPr id="22" name="Text 20"/>
          <p:cNvSpPr txBox="1"/>
          <p:nvPr/>
        </p:nvSpPr>
        <p:spPr>
          <a:xfrm>
            <a:off x="4434840" y="868680"/>
            <a:ext cx="1463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A73C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Phase 2</a:t>
            </a:r>
            <a:endParaRPr lang="en-US" sz="1100" dirty="0"/>
          </a:p>
        </p:txBody>
      </p:sp>
      <p:sp>
        <p:nvSpPr>
          <p:cNvPr id="23" name="Text 21"/>
          <p:cNvSpPr txBox="1"/>
          <p:nvPr/>
        </p:nvSpPr>
        <p:spPr>
          <a:xfrm>
            <a:off x="4434840" y="1143000"/>
            <a:ext cx="14630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2D374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Traction</a:t>
            </a:r>
            <a:endParaRPr lang="en-US" sz="1200" dirty="0"/>
          </a:p>
        </p:txBody>
      </p:sp>
      <p:sp>
        <p:nvSpPr>
          <p:cNvPr id="24" name="Text 22"/>
          <p:cNvSpPr txBox="1"/>
          <p:nvPr/>
        </p:nvSpPr>
        <p:spPr>
          <a:xfrm>
            <a:off x="4434840" y="1417320"/>
            <a:ext cx="14630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1A73C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 mois</a:t>
            </a:r>
            <a:endParaRPr lang="en-US" sz="1000" dirty="0"/>
          </a:p>
        </p:txBody>
      </p:sp>
      <p:sp>
        <p:nvSpPr>
          <p:cNvPr id="25" name="Shape 23"/>
          <p:cNvSpPr/>
          <p:nvPr/>
        </p:nvSpPr>
        <p:spPr>
          <a:xfrm>
            <a:off x="4389120" y="2697480"/>
            <a:ext cx="1554480" cy="1600200"/>
          </a:xfrm>
          <a:prstGeom prst="rect">
            <a:avLst/>
          </a:prstGeom>
          <a:solidFill>
            <a:srgbClr val="F4F6F8"/>
          </a:solidFill>
          <a:ln w="12700">
            <a:solidFill>
              <a:srgbClr val="D0D7DE"/>
            </a:solidFill>
            <a:prstDash val="solid"/>
          </a:ln>
        </p:spPr>
      </p:sp>
      <p:sp>
        <p:nvSpPr>
          <p:cNvPr id="26" name="Text 24"/>
          <p:cNvSpPr txBox="1"/>
          <p:nvPr/>
        </p:nvSpPr>
        <p:spPr>
          <a:xfrm>
            <a:off x="4480560" y="2788920"/>
            <a:ext cx="1371600" cy="1417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2D374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500 profils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2D374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50 clubs Abidjan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2D374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Retours terrain</a:t>
            </a:r>
            <a:endParaRPr lang="en-US" sz="1000" dirty="0"/>
          </a:p>
        </p:txBody>
      </p:sp>
      <p:sp>
        <p:nvSpPr>
          <p:cNvPr id="27" name="Shape 25"/>
          <p:cNvSpPr/>
          <p:nvPr/>
        </p:nvSpPr>
        <p:spPr>
          <a:xfrm>
            <a:off x="6629400" y="2377440"/>
            <a:ext cx="237744" cy="237744"/>
          </a:xfrm>
          <a:prstGeom prst="ellipse">
            <a:avLst/>
          </a:prstGeom>
          <a:solidFill>
            <a:srgbClr val="7C3AED"/>
          </a:solidFill>
          <a:ln/>
        </p:spPr>
      </p:sp>
      <p:sp>
        <p:nvSpPr>
          <p:cNvPr id="28" name="Shape 26"/>
          <p:cNvSpPr/>
          <p:nvPr/>
        </p:nvSpPr>
        <p:spPr>
          <a:xfrm>
            <a:off x="6217920" y="822960"/>
            <a:ext cx="1554480" cy="1463040"/>
          </a:xfrm>
          <a:prstGeom prst="rect">
            <a:avLst/>
          </a:prstGeom>
          <a:solidFill>
            <a:srgbClr val="F4F6F8"/>
          </a:solidFill>
          <a:ln w="19050">
            <a:solidFill>
              <a:srgbClr val="7C3AED"/>
            </a:solidFill>
            <a:prstDash val="solid"/>
          </a:ln>
        </p:spPr>
      </p:sp>
      <p:sp>
        <p:nvSpPr>
          <p:cNvPr id="29" name="Text 27"/>
          <p:cNvSpPr txBox="1"/>
          <p:nvPr/>
        </p:nvSpPr>
        <p:spPr>
          <a:xfrm>
            <a:off x="6263640" y="868680"/>
            <a:ext cx="1463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7C3AE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Phase 3</a:t>
            </a:r>
            <a:endParaRPr lang="en-US" sz="1100" dirty="0"/>
          </a:p>
        </p:txBody>
      </p:sp>
      <p:sp>
        <p:nvSpPr>
          <p:cNvPr id="30" name="Text 28"/>
          <p:cNvSpPr txBox="1"/>
          <p:nvPr/>
        </p:nvSpPr>
        <p:spPr>
          <a:xfrm>
            <a:off x="6263640" y="1143000"/>
            <a:ext cx="14630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2D374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Monétisation</a:t>
            </a:r>
            <a:endParaRPr lang="en-US" sz="1200" dirty="0"/>
          </a:p>
        </p:txBody>
      </p:sp>
      <p:sp>
        <p:nvSpPr>
          <p:cNvPr id="31" name="Text 29"/>
          <p:cNvSpPr txBox="1"/>
          <p:nvPr/>
        </p:nvSpPr>
        <p:spPr>
          <a:xfrm>
            <a:off x="6263640" y="1417320"/>
            <a:ext cx="14630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7C3AE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 mois</a:t>
            </a:r>
            <a:endParaRPr lang="en-US" sz="1000" dirty="0"/>
          </a:p>
        </p:txBody>
      </p:sp>
      <p:sp>
        <p:nvSpPr>
          <p:cNvPr id="32" name="Shape 30"/>
          <p:cNvSpPr/>
          <p:nvPr/>
        </p:nvSpPr>
        <p:spPr>
          <a:xfrm>
            <a:off x="6217920" y="2697480"/>
            <a:ext cx="1554480" cy="1600200"/>
          </a:xfrm>
          <a:prstGeom prst="rect">
            <a:avLst/>
          </a:prstGeom>
          <a:solidFill>
            <a:srgbClr val="F4F6F8"/>
          </a:solidFill>
          <a:ln w="12700">
            <a:solidFill>
              <a:srgbClr val="D0D7DE"/>
            </a:solidFill>
            <a:prstDash val="solid"/>
          </a:ln>
        </p:spPr>
      </p:sp>
      <p:sp>
        <p:nvSpPr>
          <p:cNvPr id="33" name="Text 31"/>
          <p:cNvSpPr txBox="1"/>
          <p:nvPr/>
        </p:nvSpPr>
        <p:spPr>
          <a:xfrm>
            <a:off x="6309360" y="2788920"/>
            <a:ext cx="1371600" cy="1417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2D374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Premium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2D374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Publicité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2D374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Premiers revenus</a:t>
            </a:r>
            <a:endParaRPr lang="en-US" sz="1000" dirty="0"/>
          </a:p>
        </p:txBody>
      </p:sp>
      <p:sp>
        <p:nvSpPr>
          <p:cNvPr id="34" name="Shape 32"/>
          <p:cNvSpPr/>
          <p:nvPr/>
        </p:nvSpPr>
        <p:spPr>
          <a:xfrm>
            <a:off x="8183880" y="2377440"/>
            <a:ext cx="237744" cy="237744"/>
          </a:xfrm>
          <a:prstGeom prst="ellipse">
            <a:avLst/>
          </a:prstGeom>
          <a:solidFill>
            <a:srgbClr val="DC2626"/>
          </a:solidFill>
          <a:ln/>
        </p:spPr>
      </p:sp>
      <p:sp>
        <p:nvSpPr>
          <p:cNvPr id="35" name="Shape 33"/>
          <p:cNvSpPr/>
          <p:nvPr/>
        </p:nvSpPr>
        <p:spPr>
          <a:xfrm>
            <a:off x="7772400" y="822960"/>
            <a:ext cx="1554480" cy="1463040"/>
          </a:xfrm>
          <a:prstGeom prst="rect">
            <a:avLst/>
          </a:prstGeom>
          <a:solidFill>
            <a:srgbClr val="F4F6F8"/>
          </a:solidFill>
          <a:ln w="19050">
            <a:solidFill>
              <a:srgbClr val="DC2626"/>
            </a:solidFill>
            <a:prstDash val="solid"/>
          </a:ln>
        </p:spPr>
      </p:sp>
      <p:sp>
        <p:nvSpPr>
          <p:cNvPr id="36" name="Text 34"/>
          <p:cNvSpPr txBox="1"/>
          <p:nvPr/>
        </p:nvSpPr>
        <p:spPr>
          <a:xfrm>
            <a:off x="7818120" y="868680"/>
            <a:ext cx="1463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DC262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Phase 4</a:t>
            </a:r>
            <a:endParaRPr lang="en-US" sz="1100" dirty="0"/>
          </a:p>
        </p:txBody>
      </p:sp>
      <p:sp>
        <p:nvSpPr>
          <p:cNvPr id="37" name="Text 35"/>
          <p:cNvSpPr txBox="1"/>
          <p:nvPr/>
        </p:nvSpPr>
        <p:spPr>
          <a:xfrm>
            <a:off x="7818120" y="1143000"/>
            <a:ext cx="14630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2D374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Scale</a:t>
            </a:r>
            <a:endParaRPr lang="en-US" sz="1200" dirty="0"/>
          </a:p>
        </p:txBody>
      </p:sp>
      <p:sp>
        <p:nvSpPr>
          <p:cNvPr id="38" name="Text 36"/>
          <p:cNvSpPr txBox="1"/>
          <p:nvPr/>
        </p:nvSpPr>
        <p:spPr>
          <a:xfrm>
            <a:off x="7818120" y="1417320"/>
            <a:ext cx="14630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DC262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Ongoing</a:t>
            </a:r>
            <a:endParaRPr lang="en-US" sz="1000" dirty="0"/>
          </a:p>
        </p:txBody>
      </p:sp>
      <p:sp>
        <p:nvSpPr>
          <p:cNvPr id="39" name="Shape 37"/>
          <p:cNvSpPr/>
          <p:nvPr/>
        </p:nvSpPr>
        <p:spPr>
          <a:xfrm>
            <a:off x="7772400" y="2697480"/>
            <a:ext cx="1554480" cy="1600200"/>
          </a:xfrm>
          <a:prstGeom prst="rect">
            <a:avLst/>
          </a:prstGeom>
          <a:solidFill>
            <a:srgbClr val="F4F6F8"/>
          </a:solidFill>
          <a:ln w="12700">
            <a:solidFill>
              <a:srgbClr val="D0D7DE"/>
            </a:solidFill>
            <a:prstDash val="solid"/>
          </a:ln>
        </p:spPr>
      </p:sp>
      <p:sp>
        <p:nvSpPr>
          <p:cNvPr id="40" name="Text 38"/>
          <p:cNvSpPr txBox="1"/>
          <p:nvPr/>
        </p:nvSpPr>
        <p:spPr>
          <a:xfrm>
            <a:off x="7863840" y="2788920"/>
            <a:ext cx="1371600" cy="1417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2D374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Levée de fonds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2D374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Expansion CI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2D374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Afrique Ouest</a:t>
            </a:r>
            <a:endParaRPr lang="en-US" sz="10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9144000" cy="685800"/>
          </a:xfrm>
          <a:prstGeom prst="rect">
            <a:avLst/>
          </a:prstGeom>
          <a:solidFill>
            <a:srgbClr val="1B5E3B"/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365760" y="91440"/>
            <a:ext cx="84124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Budget MVP &amp; Équipe</a:t>
            </a:r>
            <a:endParaRPr lang="en-US" sz="2200" dirty="0"/>
          </a:p>
        </p:txBody>
      </p:sp>
      <p:sp>
        <p:nvSpPr>
          <p:cNvPr id="5" name="Shape 3"/>
          <p:cNvSpPr/>
          <p:nvPr/>
        </p:nvSpPr>
        <p:spPr>
          <a:xfrm>
            <a:off x="457200" y="1005840"/>
            <a:ext cx="3200400" cy="3200400"/>
          </a:xfrm>
          <a:prstGeom prst="ellipse">
            <a:avLst/>
          </a:prstGeom>
          <a:solidFill>
            <a:srgbClr val="E8F5EE"/>
          </a:solidFill>
          <a:ln w="38100">
            <a:solidFill>
              <a:srgbClr val="1B5E3B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457200" y="2103120"/>
            <a:ext cx="32004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1B5E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10 000 €</a:t>
            </a:r>
            <a:endParaRPr lang="en-US" sz="2800" dirty="0"/>
          </a:p>
        </p:txBody>
      </p:sp>
      <p:sp>
        <p:nvSpPr>
          <p:cNvPr id="7" name="Text 5"/>
          <p:cNvSpPr txBox="1"/>
          <p:nvPr/>
        </p:nvSpPr>
        <p:spPr>
          <a:xfrm>
            <a:off x="457200" y="2651760"/>
            <a:ext cx="3200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6B778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Budget Total MVP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114800" y="868680"/>
            <a:ext cx="137160" cy="347472"/>
          </a:xfrm>
          <a:prstGeom prst="rect">
            <a:avLst/>
          </a:prstGeom>
          <a:solidFill>
            <a:srgbClr val="1B5E3B"/>
          </a:solidFill>
          <a:ln/>
        </p:spPr>
      </p:sp>
      <p:sp>
        <p:nvSpPr>
          <p:cNvPr id="9" name="Text 7"/>
          <p:cNvSpPr txBox="1"/>
          <p:nvPr/>
        </p:nvSpPr>
        <p:spPr>
          <a:xfrm>
            <a:off x="4343400" y="868680"/>
            <a:ext cx="32004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D374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Dev Flutter full-stack</a:t>
            </a:r>
            <a:endParaRPr lang="en-US" sz="1100" dirty="0"/>
          </a:p>
        </p:txBody>
      </p:sp>
      <p:sp>
        <p:nvSpPr>
          <p:cNvPr id="10" name="Text 8"/>
          <p:cNvSpPr txBox="1"/>
          <p:nvPr/>
        </p:nvSpPr>
        <p:spPr>
          <a:xfrm>
            <a:off x="7635240" y="868680"/>
            <a:ext cx="118872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1B5E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5 500 € · 55%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4114800" y="1463040"/>
            <a:ext cx="137160" cy="347472"/>
          </a:xfrm>
          <a:prstGeom prst="rect">
            <a:avLst/>
          </a:prstGeom>
          <a:solidFill>
            <a:srgbClr val="F5A623"/>
          </a:solidFill>
          <a:ln/>
        </p:spPr>
      </p:sp>
      <p:sp>
        <p:nvSpPr>
          <p:cNvPr id="12" name="Text 10"/>
          <p:cNvSpPr txBox="1"/>
          <p:nvPr/>
        </p:nvSpPr>
        <p:spPr>
          <a:xfrm>
            <a:off x="4343400" y="1463040"/>
            <a:ext cx="32004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D374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Marketing terrain Abidjan</a:t>
            </a:r>
            <a:endParaRPr lang="en-US" sz="1100" dirty="0"/>
          </a:p>
        </p:txBody>
      </p:sp>
      <p:sp>
        <p:nvSpPr>
          <p:cNvPr id="13" name="Text 11"/>
          <p:cNvSpPr txBox="1"/>
          <p:nvPr/>
        </p:nvSpPr>
        <p:spPr>
          <a:xfrm>
            <a:off x="7635240" y="1463040"/>
            <a:ext cx="118872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F5A62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1 500 € · 15%</a:t>
            </a:r>
            <a:endParaRPr lang="en-US" sz="1100" dirty="0"/>
          </a:p>
        </p:txBody>
      </p:sp>
      <p:sp>
        <p:nvSpPr>
          <p:cNvPr id="14" name="Shape 12"/>
          <p:cNvSpPr/>
          <p:nvPr/>
        </p:nvSpPr>
        <p:spPr>
          <a:xfrm>
            <a:off x="4114800" y="2057400"/>
            <a:ext cx="137160" cy="347472"/>
          </a:xfrm>
          <a:prstGeom prst="rect">
            <a:avLst/>
          </a:prstGeom>
          <a:solidFill>
            <a:srgbClr val="1A73C8"/>
          </a:solidFill>
          <a:ln/>
        </p:spPr>
      </p:sp>
      <p:sp>
        <p:nvSpPr>
          <p:cNvPr id="15" name="Text 13"/>
          <p:cNvSpPr txBox="1"/>
          <p:nvPr/>
        </p:nvSpPr>
        <p:spPr>
          <a:xfrm>
            <a:off x="4343400" y="2057400"/>
            <a:ext cx="32004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D374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Design UX/UI</a:t>
            </a:r>
            <a:endParaRPr lang="en-US" sz="1100" dirty="0"/>
          </a:p>
        </p:txBody>
      </p:sp>
      <p:sp>
        <p:nvSpPr>
          <p:cNvPr id="16" name="Text 14"/>
          <p:cNvSpPr txBox="1"/>
          <p:nvPr/>
        </p:nvSpPr>
        <p:spPr>
          <a:xfrm>
            <a:off x="7635240" y="2057400"/>
            <a:ext cx="118872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1A73C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800 € · 8%</a:t>
            </a:r>
            <a:endParaRPr lang="en-US" sz="1100" dirty="0"/>
          </a:p>
        </p:txBody>
      </p:sp>
      <p:sp>
        <p:nvSpPr>
          <p:cNvPr id="17" name="Shape 15"/>
          <p:cNvSpPr/>
          <p:nvPr/>
        </p:nvSpPr>
        <p:spPr>
          <a:xfrm>
            <a:off x="4114800" y="2651760"/>
            <a:ext cx="137160" cy="347472"/>
          </a:xfrm>
          <a:prstGeom prst="rect">
            <a:avLst/>
          </a:prstGeom>
          <a:solidFill>
            <a:srgbClr val="7C3AED"/>
          </a:solidFill>
          <a:ln/>
        </p:spPr>
      </p:sp>
      <p:sp>
        <p:nvSpPr>
          <p:cNvPr id="18" name="Text 16"/>
          <p:cNvSpPr txBox="1"/>
          <p:nvPr/>
        </p:nvSpPr>
        <p:spPr>
          <a:xfrm>
            <a:off x="4343400" y="2651760"/>
            <a:ext cx="32004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D374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Infrastructure Cloud</a:t>
            </a:r>
            <a:endParaRPr lang="en-US" sz="1100" dirty="0"/>
          </a:p>
        </p:txBody>
      </p:sp>
      <p:sp>
        <p:nvSpPr>
          <p:cNvPr id="19" name="Text 17"/>
          <p:cNvSpPr txBox="1"/>
          <p:nvPr/>
        </p:nvSpPr>
        <p:spPr>
          <a:xfrm>
            <a:off x="7635240" y="2651760"/>
            <a:ext cx="118872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7C3AE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400 € · 4%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4114800" y="3246120"/>
            <a:ext cx="137160" cy="347472"/>
          </a:xfrm>
          <a:prstGeom prst="rect">
            <a:avLst/>
          </a:prstGeom>
          <a:solidFill>
            <a:srgbClr val="DC2626"/>
          </a:solidFill>
          <a:ln/>
        </p:spPr>
      </p:sp>
      <p:sp>
        <p:nvSpPr>
          <p:cNvPr id="21" name="Text 19"/>
          <p:cNvSpPr txBox="1"/>
          <p:nvPr/>
        </p:nvSpPr>
        <p:spPr>
          <a:xfrm>
            <a:off x="4343400" y="3246120"/>
            <a:ext cx="32004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D374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Juridique &amp; CGU</a:t>
            </a:r>
            <a:endParaRPr lang="en-US" sz="1100" dirty="0"/>
          </a:p>
        </p:txBody>
      </p:sp>
      <p:sp>
        <p:nvSpPr>
          <p:cNvPr id="22" name="Text 20"/>
          <p:cNvSpPr txBox="1"/>
          <p:nvPr/>
        </p:nvSpPr>
        <p:spPr>
          <a:xfrm>
            <a:off x="7635240" y="3246120"/>
            <a:ext cx="118872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DC262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400 € · 4%</a:t>
            </a:r>
            <a:endParaRPr lang="en-US" sz="1100" dirty="0"/>
          </a:p>
        </p:txBody>
      </p:sp>
      <p:sp>
        <p:nvSpPr>
          <p:cNvPr id="23" name="Shape 21"/>
          <p:cNvSpPr/>
          <p:nvPr/>
        </p:nvSpPr>
        <p:spPr>
          <a:xfrm>
            <a:off x="4114800" y="3840480"/>
            <a:ext cx="137160" cy="347472"/>
          </a:xfrm>
          <a:prstGeom prst="rect">
            <a:avLst/>
          </a:prstGeom>
          <a:solidFill>
            <a:srgbClr val="6B7785"/>
          </a:solidFill>
          <a:ln/>
        </p:spPr>
      </p:sp>
      <p:sp>
        <p:nvSpPr>
          <p:cNvPr id="24" name="Text 22"/>
          <p:cNvSpPr txBox="1"/>
          <p:nvPr/>
        </p:nvSpPr>
        <p:spPr>
          <a:xfrm>
            <a:off x="4343400" y="3840480"/>
            <a:ext cx="32004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D374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Réserve imprévus</a:t>
            </a:r>
            <a:endParaRPr lang="en-US" sz="1100" dirty="0"/>
          </a:p>
        </p:txBody>
      </p:sp>
      <p:sp>
        <p:nvSpPr>
          <p:cNvPr id="25" name="Text 23"/>
          <p:cNvSpPr txBox="1"/>
          <p:nvPr/>
        </p:nvSpPr>
        <p:spPr>
          <a:xfrm>
            <a:off x="7635240" y="3840480"/>
            <a:ext cx="118872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6B778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700 € · 7%</a:t>
            </a:r>
            <a:endParaRPr lang="en-US" sz="1100" dirty="0"/>
          </a:p>
        </p:txBody>
      </p:sp>
      <p:sp>
        <p:nvSpPr>
          <p:cNvPr id="26" name="Shape 24"/>
          <p:cNvSpPr/>
          <p:nvPr/>
        </p:nvSpPr>
        <p:spPr>
          <a:xfrm>
            <a:off x="4114800" y="4434840"/>
            <a:ext cx="137160" cy="347472"/>
          </a:xfrm>
          <a:prstGeom prst="rect">
            <a:avLst/>
          </a:prstGeom>
          <a:solidFill>
            <a:srgbClr val="B45309"/>
          </a:solidFill>
          <a:ln/>
        </p:spPr>
      </p:sp>
      <p:sp>
        <p:nvSpPr>
          <p:cNvPr id="27" name="Text 25"/>
          <p:cNvSpPr txBox="1"/>
          <p:nvPr/>
        </p:nvSpPr>
        <p:spPr>
          <a:xfrm>
            <a:off x="4343400" y="4434840"/>
            <a:ext cx="32004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D374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Autres (stores, KYC…)</a:t>
            </a:r>
            <a:endParaRPr lang="en-US" sz="1100" dirty="0"/>
          </a:p>
        </p:txBody>
      </p:sp>
      <p:sp>
        <p:nvSpPr>
          <p:cNvPr id="28" name="Text 26"/>
          <p:cNvSpPr txBox="1"/>
          <p:nvPr/>
        </p:nvSpPr>
        <p:spPr>
          <a:xfrm>
            <a:off x="7635240" y="4434840"/>
            <a:ext cx="118872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B4530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700 € · 7%</a:t>
            </a:r>
            <a:endParaRPr lang="en-US" sz="1100" dirty="0"/>
          </a:p>
        </p:txBody>
      </p:sp>
      <p:sp>
        <p:nvSpPr>
          <p:cNvPr id="29" name="Shape 27"/>
          <p:cNvSpPr/>
          <p:nvPr/>
        </p:nvSpPr>
        <p:spPr>
          <a:xfrm>
            <a:off x="4114800" y="4663440"/>
            <a:ext cx="4709160" cy="45720"/>
          </a:xfrm>
          <a:prstGeom prst="rect">
            <a:avLst/>
          </a:prstGeom>
          <a:solidFill>
            <a:srgbClr val="D0D7DE"/>
          </a:solidFill>
          <a:ln/>
        </p:spPr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1B5E3B"/>
          </a:solidFill>
          <a:ln/>
        </p:spPr>
      </p:sp>
      <p:sp>
        <p:nvSpPr>
          <p:cNvPr id="3" name="Shape 1"/>
          <p:cNvSpPr/>
          <p:nvPr/>
        </p:nvSpPr>
        <p:spPr>
          <a:xfrm>
            <a:off x="3200400" y="365760"/>
            <a:ext cx="2743200" cy="2743200"/>
          </a:xfrm>
          <a:prstGeom prst="ellipse">
            <a:avLst/>
          </a:prstGeom>
          <a:solidFill>
            <a:srgbClr val="0D3D24"/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3200400" y="365760"/>
            <a:ext cx="2743200" cy="2743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200" dirty="0">
                <a:solidFill>
                  <a:srgbClr val="000000"/>
                </a:solidFill>
              </a:rPr>
              <a:t>🏆</a:t>
            </a:r>
            <a:endParaRPr lang="en-US" sz="7200" dirty="0"/>
          </a:p>
        </p:txBody>
      </p:sp>
      <p:sp>
        <p:nvSpPr>
          <p:cNvPr id="5" name="Text 3"/>
          <p:cNvSpPr txBox="1"/>
          <p:nvPr/>
        </p:nvSpPr>
        <p:spPr>
          <a:xfrm>
            <a:off x="1371600" y="3200400"/>
            <a:ext cx="64008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5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</a:t>
            </a:r>
            <a:pPr algn="ctr" indent="0" marL="0">
              <a:buNone/>
            </a:pPr>
            <a:r>
              <a:rPr lang="en-US" sz="5600" b="1" dirty="0">
                <a:solidFill>
                  <a:srgbClr val="F5A62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</a:t>
            </a:r>
            <a:pPr algn="ctr" indent="0" marL="0">
              <a:buNone/>
            </a:pPr>
            <a:r>
              <a:rPr lang="en-US" sz="5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Ta</a:t>
            </a:r>
            <a:endParaRPr lang="en-US" sz="5600" dirty="0"/>
          </a:p>
        </p:txBody>
      </p:sp>
      <p:sp>
        <p:nvSpPr>
          <p:cNvPr id="6" name="Text 4"/>
          <p:cNvSpPr txBox="1"/>
          <p:nvPr/>
        </p:nvSpPr>
        <p:spPr>
          <a:xfrm>
            <a:off x="1371600" y="3931920"/>
            <a:ext cx="6400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i="1" dirty="0">
                <a:solidFill>
                  <a:srgbClr val="F5A62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Détection de Nouveaux Talents — Côte d'Ivoire</a:t>
            </a:r>
            <a:endParaRPr lang="en-US" sz="1400" dirty="0"/>
          </a:p>
        </p:txBody>
      </p:sp>
      <p:sp>
        <p:nvSpPr>
          <p:cNvPr id="7" name="Text 5"/>
          <p:cNvSpPr txBox="1"/>
          <p:nvPr/>
        </p:nvSpPr>
        <p:spPr>
          <a:xfrm>
            <a:off x="1371600" y="4389120"/>
            <a:ext cx="6400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A8D5B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denota.ci  ·  contact@denota.ci  ·  @DeNota_CI</a:t>
            </a:r>
            <a:endParaRPr lang="en-US" sz="12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2026-09-14T18:16:00Z</dcterms:created>
  <dcterms:modified xsi:type="dcterms:W3CDTF">2026-09-14T18:16:00Z</dcterms:modified>
</cp:coreProperties>
</file>